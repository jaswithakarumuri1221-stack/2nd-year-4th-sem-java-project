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5" r:id="rId9"/>
    <p:sldId id="264" r:id="rId10"/>
    <p:sldId id="266" r:id="rId11"/>
    <p:sldId id="267" r:id="rId12"/>
    <p:sldId id="269" r:id="rId13"/>
    <p:sldId id="270" r:id="rId14"/>
    <p:sldId id="272" r:id="rId15"/>
    <p:sldId id="288" r:id="rId16"/>
    <p:sldId id="289" r:id="rId17"/>
    <p:sldId id="290" r:id="rId18"/>
    <p:sldId id="274" r:id="rId19"/>
    <p:sldId id="275" r:id="rId20"/>
    <p:sldId id="278" r:id="rId21"/>
    <p:sldId id="279" r:id="rId22"/>
    <p:sldId id="280" r:id="rId23"/>
    <p:sldId id="281" r:id="rId24"/>
    <p:sldId id="282" r:id="rId25"/>
    <p:sldId id="283" r:id="rId26"/>
    <p:sldId id="284" r:id="rId27"/>
    <p:sldId id="285" r:id="rId28"/>
    <p:sldId id="286" r:id="rId29"/>
    <p:sldId id="287" r:id="rId30"/>
    <p:sldId id="271" r:id="rId3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3" d="100"/>
          <a:sy n="93" d="100"/>
        </p:scale>
        <p:origin x="27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56424" y="318779"/>
            <a:ext cx="2030789" cy="736919"/>
          </a:xfrm>
          <a:prstGeom prst="rect">
            <a:avLst/>
          </a:prstGeom>
        </p:spPr>
      </p:pic>
      <p:sp>
        <p:nvSpPr>
          <p:cNvPr id="2" name="Holder 2"/>
          <p:cNvSpPr>
            <a:spLocks noGrp="1"/>
          </p:cNvSpPr>
          <p:nvPr>
            <p:ph type="title"/>
          </p:nvPr>
        </p:nvSpPr>
        <p:spPr>
          <a:xfrm>
            <a:off x="859332" y="1005332"/>
            <a:ext cx="3226130" cy="782269"/>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96315" y="1781428"/>
            <a:ext cx="10199369" cy="288988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eveloper.mozilla.org/"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2.xml"/><Relationship Id="rId6" Type="http://schemas.openxmlformats.org/officeDocument/2006/relationships/hyperlink" Target="https://stackoverflow.com/" TargetMode="External"/><Relationship Id="rId5" Type="http://schemas.openxmlformats.org/officeDocument/2006/relationships/hyperlink" Target="https://dev.mysql.com/doc/" TargetMode="External"/><Relationship Id="rId4" Type="http://schemas.openxmlformats.org/officeDocument/2006/relationships/hyperlink" Target="https://www.geeksforgeeks.or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12143" y="621735"/>
            <a:ext cx="7495139" cy="952889"/>
          </a:xfrm>
          <a:prstGeom prst="rect">
            <a:avLst/>
          </a:prstGeom>
        </p:spPr>
      </p:pic>
      <p:sp>
        <p:nvSpPr>
          <p:cNvPr id="3" name="object 3"/>
          <p:cNvSpPr txBox="1">
            <a:spLocks noGrp="1"/>
          </p:cNvSpPr>
          <p:nvPr>
            <p:ph type="title"/>
          </p:nvPr>
        </p:nvSpPr>
        <p:spPr>
          <a:xfrm>
            <a:off x="4317872" y="1508252"/>
            <a:ext cx="3495675" cy="45212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00FF"/>
                </a:solidFill>
              </a:rPr>
              <a:t>Final</a:t>
            </a:r>
            <a:r>
              <a:rPr sz="2800" spc="-55" dirty="0">
                <a:solidFill>
                  <a:srgbClr val="0000FF"/>
                </a:solidFill>
              </a:rPr>
              <a:t> </a:t>
            </a:r>
            <a:r>
              <a:rPr sz="2800" dirty="0">
                <a:solidFill>
                  <a:srgbClr val="0000FF"/>
                </a:solidFill>
              </a:rPr>
              <a:t>Project</a:t>
            </a:r>
            <a:r>
              <a:rPr sz="2800" spc="-40" dirty="0">
                <a:solidFill>
                  <a:srgbClr val="0000FF"/>
                </a:solidFill>
              </a:rPr>
              <a:t> </a:t>
            </a:r>
            <a:r>
              <a:rPr sz="2800" spc="-25" dirty="0">
                <a:solidFill>
                  <a:srgbClr val="0000FF"/>
                </a:solidFill>
              </a:rPr>
              <a:t>Review-</a:t>
            </a:r>
            <a:r>
              <a:rPr sz="2800" spc="-50" dirty="0">
                <a:solidFill>
                  <a:srgbClr val="0000FF"/>
                </a:solidFill>
              </a:rPr>
              <a:t>2</a:t>
            </a:r>
            <a:endParaRPr sz="2800"/>
          </a:p>
        </p:txBody>
      </p:sp>
      <p:sp>
        <p:nvSpPr>
          <p:cNvPr id="4" name="object 4"/>
          <p:cNvSpPr txBox="1"/>
          <p:nvPr/>
        </p:nvSpPr>
        <p:spPr>
          <a:xfrm>
            <a:off x="644753" y="3843253"/>
            <a:ext cx="2800985" cy="848360"/>
          </a:xfrm>
          <a:prstGeom prst="rect">
            <a:avLst/>
          </a:prstGeom>
        </p:spPr>
        <p:txBody>
          <a:bodyPr vert="horz" wrap="square" lIns="0" tIns="149225" rIns="0" bIns="0" rtlCol="0">
            <a:spAutoFit/>
          </a:bodyPr>
          <a:lstStyle/>
          <a:p>
            <a:pPr marL="299085" indent="-286385">
              <a:lnSpc>
                <a:spcPct val="100000"/>
              </a:lnSpc>
              <a:spcBef>
                <a:spcPts val="1175"/>
              </a:spcBef>
              <a:buFont typeface="Arial MT"/>
              <a:buChar char="•"/>
              <a:tabLst>
                <a:tab pos="299085" algn="l"/>
              </a:tabLst>
            </a:pPr>
            <a:r>
              <a:rPr sz="1800" dirty="0">
                <a:latin typeface="Times New Roman"/>
                <a:cs typeface="Times New Roman"/>
              </a:rPr>
              <a:t>24B11AI175</a:t>
            </a:r>
            <a:r>
              <a:rPr sz="1800" spc="-10" dirty="0">
                <a:latin typeface="Times New Roman"/>
                <a:cs typeface="Times New Roman"/>
              </a:rPr>
              <a:t> </a:t>
            </a: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K.</a:t>
            </a:r>
            <a:r>
              <a:rPr sz="1800" spc="-5" dirty="0">
                <a:latin typeface="Times New Roman"/>
                <a:cs typeface="Times New Roman"/>
              </a:rPr>
              <a:t> </a:t>
            </a:r>
            <a:r>
              <a:rPr sz="1800" spc="-10" dirty="0">
                <a:latin typeface="Times New Roman"/>
                <a:cs typeface="Times New Roman"/>
              </a:rPr>
              <a:t>Jaswitha</a:t>
            </a:r>
            <a:endParaRPr sz="1800">
              <a:latin typeface="Times New Roman"/>
              <a:cs typeface="Times New Roman"/>
            </a:endParaRPr>
          </a:p>
          <a:p>
            <a:pPr marL="299085" indent="-286385">
              <a:lnSpc>
                <a:spcPct val="100000"/>
              </a:lnSpc>
              <a:spcBef>
                <a:spcPts val="1080"/>
              </a:spcBef>
              <a:buFont typeface="Arial MT"/>
              <a:buChar char="•"/>
              <a:tabLst>
                <a:tab pos="299085" algn="l"/>
              </a:tabLst>
            </a:pPr>
            <a:r>
              <a:rPr sz="1800" dirty="0">
                <a:latin typeface="Times New Roman"/>
                <a:cs typeface="Times New Roman"/>
              </a:rPr>
              <a:t>24B11AI268</a:t>
            </a:r>
            <a:r>
              <a:rPr sz="1800" spc="420"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M</a:t>
            </a:r>
            <a:r>
              <a:rPr sz="1800" spc="-15" dirty="0">
                <a:latin typeface="Times New Roman"/>
                <a:cs typeface="Times New Roman"/>
              </a:rPr>
              <a:t> </a:t>
            </a:r>
            <a:r>
              <a:rPr sz="1800" spc="-10" dirty="0">
                <a:latin typeface="Times New Roman"/>
                <a:cs typeface="Times New Roman"/>
              </a:rPr>
              <a:t>Pujitha</a:t>
            </a:r>
            <a:endParaRPr sz="1800">
              <a:latin typeface="Times New Roman"/>
              <a:cs typeface="Times New Roman"/>
            </a:endParaRPr>
          </a:p>
        </p:txBody>
      </p:sp>
      <p:sp>
        <p:nvSpPr>
          <p:cNvPr id="5" name="object 5"/>
          <p:cNvSpPr txBox="1"/>
          <p:nvPr/>
        </p:nvSpPr>
        <p:spPr>
          <a:xfrm>
            <a:off x="3452240" y="3843253"/>
            <a:ext cx="998855" cy="848360"/>
          </a:xfrm>
          <a:prstGeom prst="rect">
            <a:avLst/>
          </a:prstGeom>
        </p:spPr>
        <p:txBody>
          <a:bodyPr vert="horz" wrap="square" lIns="0" tIns="149225" rIns="0" bIns="0" rtlCol="0">
            <a:spAutoFit/>
          </a:bodyPr>
          <a:lstStyle/>
          <a:p>
            <a:pPr marL="210820">
              <a:lnSpc>
                <a:spcPct val="100000"/>
              </a:lnSpc>
              <a:spcBef>
                <a:spcPts val="1175"/>
              </a:spcBef>
            </a:pPr>
            <a:r>
              <a:rPr sz="1800" dirty="0">
                <a:latin typeface="Times New Roman"/>
                <a:cs typeface="Times New Roman"/>
              </a:rPr>
              <a:t>-</a:t>
            </a:r>
            <a:r>
              <a:rPr sz="1800" spc="440" dirty="0">
                <a:latin typeface="Times New Roman"/>
                <a:cs typeface="Times New Roman"/>
              </a:rPr>
              <a:t> </a:t>
            </a:r>
            <a:r>
              <a:rPr sz="1800" spc="-20" dirty="0">
                <a:latin typeface="Times New Roman"/>
                <a:cs typeface="Times New Roman"/>
              </a:rPr>
              <a:t>AIML</a:t>
            </a:r>
            <a:endParaRPr sz="1800">
              <a:latin typeface="Times New Roman"/>
              <a:cs typeface="Times New Roman"/>
            </a:endParaRPr>
          </a:p>
          <a:p>
            <a:pPr marL="12700">
              <a:lnSpc>
                <a:spcPct val="100000"/>
              </a:lnSpc>
              <a:spcBef>
                <a:spcPts val="1080"/>
              </a:spcBef>
            </a:pPr>
            <a:r>
              <a:rPr sz="1800" dirty="0">
                <a:latin typeface="Times New Roman"/>
                <a:cs typeface="Times New Roman"/>
              </a:rPr>
              <a:t>-</a:t>
            </a:r>
            <a:r>
              <a:rPr sz="1800" spc="434" dirty="0">
                <a:latin typeface="Times New Roman"/>
                <a:cs typeface="Times New Roman"/>
              </a:rPr>
              <a:t> </a:t>
            </a:r>
            <a:r>
              <a:rPr sz="1800" spc="-20" dirty="0">
                <a:latin typeface="Times New Roman"/>
                <a:cs typeface="Times New Roman"/>
              </a:rPr>
              <a:t>AIML</a:t>
            </a:r>
            <a:endParaRPr sz="1800">
              <a:latin typeface="Times New Roman"/>
              <a:cs typeface="Times New Roman"/>
            </a:endParaRPr>
          </a:p>
        </p:txBody>
      </p:sp>
      <p:sp>
        <p:nvSpPr>
          <p:cNvPr id="6" name="object 6"/>
          <p:cNvSpPr txBox="1"/>
          <p:nvPr/>
        </p:nvSpPr>
        <p:spPr>
          <a:xfrm>
            <a:off x="644753" y="2352866"/>
            <a:ext cx="8701405" cy="1515745"/>
          </a:xfrm>
          <a:prstGeom prst="rect">
            <a:avLst/>
          </a:prstGeom>
        </p:spPr>
        <p:txBody>
          <a:bodyPr vert="horz" wrap="square" lIns="0" tIns="185420" rIns="0" bIns="0" rtlCol="0">
            <a:spAutoFit/>
          </a:bodyPr>
          <a:lstStyle/>
          <a:p>
            <a:pPr marL="2316480">
              <a:lnSpc>
                <a:spcPct val="100000"/>
              </a:lnSpc>
              <a:spcBef>
                <a:spcPts val="1460"/>
              </a:spcBef>
            </a:pPr>
            <a:r>
              <a:rPr lang="en-IN" sz="3200" b="1" dirty="0" smtClean="0">
                <a:latin typeface="Times New Roman"/>
                <a:cs typeface="Times New Roman"/>
              </a:rPr>
              <a:t>ONLINE QUIZ APPLICATION</a:t>
            </a:r>
            <a:endParaRPr sz="3200" dirty="0">
              <a:latin typeface="Times New Roman"/>
              <a:cs typeface="Times New Roman"/>
            </a:endParaRPr>
          </a:p>
          <a:p>
            <a:pPr marL="4478020">
              <a:lnSpc>
                <a:spcPct val="100000"/>
              </a:lnSpc>
              <a:spcBef>
                <a:spcPts val="765"/>
              </a:spcBef>
            </a:pPr>
            <a:r>
              <a:rPr sz="1800" b="1" dirty="0">
                <a:solidFill>
                  <a:srgbClr val="C55A11"/>
                </a:solidFill>
                <a:latin typeface="Times New Roman"/>
                <a:cs typeface="Times New Roman"/>
              </a:rPr>
              <a:t>TEAM</a:t>
            </a:r>
            <a:r>
              <a:rPr sz="1800" b="1" spc="-10" dirty="0">
                <a:solidFill>
                  <a:srgbClr val="C55A11"/>
                </a:solidFill>
                <a:latin typeface="Times New Roman"/>
                <a:cs typeface="Times New Roman"/>
              </a:rPr>
              <a:t> NUMBER:4</a:t>
            </a:r>
            <a:endParaRPr sz="1800" dirty="0">
              <a:latin typeface="Times New Roman"/>
              <a:cs typeface="Times New Roman"/>
            </a:endParaRPr>
          </a:p>
          <a:p>
            <a:pPr marL="12700">
              <a:lnSpc>
                <a:spcPct val="100000"/>
              </a:lnSpc>
              <a:spcBef>
                <a:spcPts val="1445"/>
              </a:spcBef>
            </a:pPr>
            <a:r>
              <a:rPr sz="1800" b="1" dirty="0">
                <a:latin typeface="Times New Roman"/>
                <a:cs typeface="Times New Roman"/>
              </a:rPr>
              <a:t>Presented</a:t>
            </a:r>
            <a:r>
              <a:rPr sz="1800" b="1" spc="-70" dirty="0">
                <a:latin typeface="Times New Roman"/>
                <a:cs typeface="Times New Roman"/>
              </a:rPr>
              <a:t> </a:t>
            </a:r>
            <a:r>
              <a:rPr sz="1800" b="1" spc="-25" dirty="0">
                <a:latin typeface="Times New Roman"/>
                <a:cs typeface="Times New Roman"/>
              </a:rPr>
              <a:t>by:</a:t>
            </a:r>
            <a:endParaRPr sz="1800" dirty="0">
              <a:latin typeface="Times New Roman"/>
              <a:cs typeface="Times New Roman"/>
            </a:endParaRPr>
          </a:p>
        </p:txBody>
      </p:sp>
      <p:sp>
        <p:nvSpPr>
          <p:cNvPr id="7" name="object 7"/>
          <p:cNvSpPr txBox="1"/>
          <p:nvPr/>
        </p:nvSpPr>
        <p:spPr>
          <a:xfrm>
            <a:off x="3826255" y="5169763"/>
            <a:ext cx="3409315" cy="680313"/>
          </a:xfrm>
          <a:prstGeom prst="rect">
            <a:avLst/>
          </a:prstGeom>
        </p:spPr>
        <p:txBody>
          <a:bodyPr vert="horz" wrap="square" lIns="0" tIns="61594" rIns="0" bIns="0" rtlCol="0">
            <a:spAutoFit/>
          </a:bodyPr>
          <a:lstStyle/>
          <a:p>
            <a:pPr marL="1905" algn="ctr">
              <a:lnSpc>
                <a:spcPct val="100000"/>
              </a:lnSpc>
              <a:spcBef>
                <a:spcPts val="484"/>
              </a:spcBef>
            </a:pPr>
            <a:r>
              <a:rPr sz="1800" b="1" dirty="0">
                <a:latin typeface="Times New Roman"/>
                <a:cs typeface="Times New Roman"/>
              </a:rPr>
              <a:t>Under</a:t>
            </a:r>
            <a:r>
              <a:rPr sz="1800" b="1" spc="-50" dirty="0">
                <a:latin typeface="Times New Roman"/>
                <a:cs typeface="Times New Roman"/>
              </a:rPr>
              <a:t> </a:t>
            </a:r>
            <a:r>
              <a:rPr sz="1800" b="1" dirty="0">
                <a:latin typeface="Times New Roman"/>
                <a:cs typeface="Times New Roman"/>
              </a:rPr>
              <a:t>esteemed</a:t>
            </a:r>
            <a:r>
              <a:rPr sz="1800" b="1" spc="-65" dirty="0">
                <a:latin typeface="Times New Roman"/>
                <a:cs typeface="Times New Roman"/>
              </a:rPr>
              <a:t> </a:t>
            </a:r>
            <a:r>
              <a:rPr sz="1800" b="1" dirty="0">
                <a:latin typeface="Times New Roman"/>
                <a:cs typeface="Times New Roman"/>
              </a:rPr>
              <a:t>guidance</a:t>
            </a:r>
            <a:r>
              <a:rPr sz="1800" b="1" spc="-50" dirty="0">
                <a:latin typeface="Times New Roman"/>
                <a:cs typeface="Times New Roman"/>
              </a:rPr>
              <a:t> </a:t>
            </a:r>
            <a:r>
              <a:rPr sz="1800" b="1" spc="-25" dirty="0">
                <a:latin typeface="Times New Roman"/>
                <a:cs typeface="Times New Roman"/>
              </a:rPr>
              <a:t>of</a:t>
            </a:r>
            <a:r>
              <a:rPr sz="1800" b="1" spc="-25" dirty="0" smtClean="0">
                <a:latin typeface="Times New Roman"/>
                <a:cs typeface="Times New Roman"/>
              </a:rPr>
              <a:t>:</a:t>
            </a:r>
            <a:endParaRPr lang="en-IN" dirty="0">
              <a:latin typeface="Times New Roman"/>
              <a:cs typeface="Times New Roman"/>
            </a:endParaRPr>
          </a:p>
          <a:p>
            <a:pPr marL="1905" algn="ctr">
              <a:lnSpc>
                <a:spcPct val="100000"/>
              </a:lnSpc>
              <a:spcBef>
                <a:spcPts val="484"/>
              </a:spcBef>
            </a:pPr>
            <a:endParaRPr sz="1800" dirty="0">
              <a:latin typeface="Times New Roman"/>
              <a:cs typeface="Times New Roman"/>
            </a:endParaRPr>
          </a:p>
        </p:txBody>
      </p:sp>
      <p:sp>
        <p:nvSpPr>
          <p:cNvPr id="8" name="object 8"/>
          <p:cNvSpPr txBox="1"/>
          <p:nvPr/>
        </p:nvSpPr>
        <p:spPr>
          <a:xfrm>
            <a:off x="6483222" y="3826763"/>
            <a:ext cx="1506220" cy="849630"/>
          </a:xfrm>
          <a:prstGeom prst="rect">
            <a:avLst/>
          </a:prstGeom>
        </p:spPr>
        <p:txBody>
          <a:bodyPr vert="horz" wrap="square" lIns="0" tIns="149860" rIns="0" bIns="0" rtlCol="0">
            <a:spAutoFit/>
          </a:bodyPr>
          <a:lstStyle/>
          <a:p>
            <a:pPr marL="299085" indent="-286385">
              <a:lnSpc>
                <a:spcPct val="100000"/>
              </a:lnSpc>
              <a:spcBef>
                <a:spcPts val="1180"/>
              </a:spcBef>
              <a:buFont typeface="Arial MT"/>
              <a:buChar char="•"/>
              <a:tabLst>
                <a:tab pos="299085" algn="l"/>
              </a:tabLst>
            </a:pPr>
            <a:r>
              <a:rPr sz="1800" spc="-10" dirty="0">
                <a:latin typeface="Times New Roman"/>
                <a:cs typeface="Times New Roman"/>
              </a:rPr>
              <a:t>24B11AI149</a:t>
            </a:r>
            <a:endParaRPr sz="1800">
              <a:latin typeface="Times New Roman"/>
              <a:cs typeface="Times New Roman"/>
            </a:endParaRPr>
          </a:p>
          <a:p>
            <a:pPr marL="299085" indent="-286385">
              <a:lnSpc>
                <a:spcPct val="100000"/>
              </a:lnSpc>
              <a:spcBef>
                <a:spcPts val="1085"/>
              </a:spcBef>
              <a:buFont typeface="Arial MT"/>
              <a:buChar char="•"/>
              <a:tabLst>
                <a:tab pos="299085" algn="l"/>
              </a:tabLst>
            </a:pPr>
            <a:r>
              <a:rPr sz="1800" spc="-10" dirty="0">
                <a:latin typeface="Times New Roman"/>
                <a:cs typeface="Times New Roman"/>
              </a:rPr>
              <a:t>24B11AI343</a:t>
            </a:r>
            <a:endParaRPr sz="1800">
              <a:latin typeface="Times New Roman"/>
              <a:cs typeface="Times New Roman"/>
            </a:endParaRPr>
          </a:p>
        </p:txBody>
      </p:sp>
      <p:sp>
        <p:nvSpPr>
          <p:cNvPr id="9" name="object 9"/>
          <p:cNvSpPr txBox="1"/>
          <p:nvPr/>
        </p:nvSpPr>
        <p:spPr>
          <a:xfrm>
            <a:off x="8249793" y="3826763"/>
            <a:ext cx="2540000" cy="849630"/>
          </a:xfrm>
          <a:prstGeom prst="rect">
            <a:avLst/>
          </a:prstGeom>
        </p:spPr>
        <p:txBody>
          <a:bodyPr vert="horz" wrap="square" lIns="0" tIns="149860" rIns="0" bIns="0" rtlCol="0">
            <a:spAutoFit/>
          </a:bodyPr>
          <a:lstStyle/>
          <a:p>
            <a:pPr marL="144145" indent="-131445">
              <a:lnSpc>
                <a:spcPct val="100000"/>
              </a:lnSpc>
              <a:spcBef>
                <a:spcPts val="1180"/>
              </a:spcBef>
              <a:buChar char="-"/>
              <a:tabLst>
                <a:tab pos="144145" algn="l"/>
              </a:tabLst>
            </a:pPr>
            <a:r>
              <a:rPr sz="1800" dirty="0">
                <a:latin typeface="Times New Roman"/>
                <a:cs typeface="Times New Roman"/>
              </a:rPr>
              <a:t>J</a:t>
            </a:r>
            <a:r>
              <a:rPr sz="1800" spc="-5" dirty="0">
                <a:latin typeface="Times New Roman"/>
                <a:cs typeface="Times New Roman"/>
              </a:rPr>
              <a:t> </a:t>
            </a:r>
            <a:r>
              <a:rPr sz="1800" dirty="0">
                <a:latin typeface="Times New Roman"/>
                <a:cs typeface="Times New Roman"/>
              </a:rPr>
              <a:t>Mounika</a:t>
            </a:r>
            <a:r>
              <a:rPr sz="1800" spc="450" dirty="0">
                <a:latin typeface="Times New Roman"/>
                <a:cs typeface="Times New Roman"/>
              </a:rPr>
              <a:t> </a:t>
            </a:r>
            <a:r>
              <a:rPr sz="1800" dirty="0">
                <a:latin typeface="Times New Roman"/>
                <a:cs typeface="Times New Roman"/>
              </a:rPr>
              <a:t>-</a:t>
            </a:r>
            <a:r>
              <a:rPr sz="1800" spc="445" dirty="0">
                <a:latin typeface="Times New Roman"/>
                <a:cs typeface="Times New Roman"/>
              </a:rPr>
              <a:t> </a:t>
            </a:r>
            <a:r>
              <a:rPr sz="1800" spc="-20" dirty="0">
                <a:latin typeface="Times New Roman"/>
                <a:cs typeface="Times New Roman"/>
              </a:rPr>
              <a:t>AIML</a:t>
            </a:r>
            <a:endParaRPr sz="1800">
              <a:latin typeface="Times New Roman"/>
              <a:cs typeface="Times New Roman"/>
            </a:endParaRPr>
          </a:p>
          <a:p>
            <a:pPr marL="144145" indent="-131445">
              <a:lnSpc>
                <a:spcPct val="100000"/>
              </a:lnSpc>
              <a:spcBef>
                <a:spcPts val="1085"/>
              </a:spcBef>
              <a:buChar char="-"/>
              <a:tabLst>
                <a:tab pos="144145" algn="l"/>
                <a:tab pos="1753235" algn="l"/>
              </a:tabLst>
            </a:pPr>
            <a:r>
              <a:rPr sz="1800" dirty="0">
                <a:latin typeface="Times New Roman"/>
                <a:cs typeface="Times New Roman"/>
              </a:rPr>
              <a:t>P Sri </a:t>
            </a:r>
            <a:r>
              <a:rPr sz="1800" spc="-10" dirty="0">
                <a:latin typeface="Times New Roman"/>
                <a:cs typeface="Times New Roman"/>
              </a:rPr>
              <a:t>Vaishnavi</a:t>
            </a:r>
            <a:r>
              <a:rPr sz="1800" dirty="0">
                <a:latin typeface="Times New Roman"/>
                <a:cs typeface="Times New Roman"/>
              </a:rPr>
              <a:t>	-</a:t>
            </a:r>
            <a:r>
              <a:rPr sz="1800" spc="440" dirty="0">
                <a:latin typeface="Times New Roman"/>
                <a:cs typeface="Times New Roman"/>
              </a:rPr>
              <a:t> </a:t>
            </a:r>
            <a:r>
              <a:rPr sz="1800" spc="-20" dirty="0">
                <a:latin typeface="Times New Roman"/>
                <a:cs typeface="Times New Roman"/>
              </a:rPr>
              <a:t>AIML</a:t>
            </a:r>
            <a:endParaRPr sz="1800">
              <a:latin typeface="Times New Roman"/>
              <a:cs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914400"/>
            <a:ext cx="3226130" cy="561000"/>
          </a:xfrm>
          <a:prstGeom prst="rect">
            <a:avLst/>
          </a:prstGeom>
        </p:spPr>
        <p:txBody>
          <a:bodyPr vert="horz" wrap="square" lIns="0" tIns="342214" rIns="0" bIns="0" rtlCol="0">
            <a:spAutoFit/>
          </a:bodyPr>
          <a:lstStyle/>
          <a:p>
            <a:pPr marL="215265" algn="l">
              <a:lnSpc>
                <a:spcPct val="100000"/>
              </a:lnSpc>
              <a:spcBef>
                <a:spcPts val="95"/>
              </a:spcBef>
            </a:pPr>
            <a:r>
              <a:rPr sz="1400" spc="-10" dirty="0" smtClean="0"/>
              <a:t>Outline</a:t>
            </a:r>
            <a:endParaRPr sz="1400" u="sng" dirty="0"/>
          </a:p>
        </p:txBody>
      </p:sp>
      <p:sp>
        <p:nvSpPr>
          <p:cNvPr id="3" name="object 3"/>
          <p:cNvSpPr txBox="1"/>
          <p:nvPr/>
        </p:nvSpPr>
        <p:spPr>
          <a:xfrm>
            <a:off x="685800" y="1295400"/>
            <a:ext cx="3581400" cy="3245119"/>
          </a:xfrm>
          <a:prstGeom prst="rect">
            <a:avLst/>
          </a:prstGeom>
        </p:spPr>
        <p:txBody>
          <a:bodyPr vert="horz" wrap="square" lIns="0" tIns="13335" rIns="0" bIns="0" rtlCol="0">
            <a:spAutoFit/>
          </a:bodyPr>
          <a:lstStyle/>
          <a:p>
            <a:endParaRPr lang="en-IN" sz="1800" dirty="0"/>
          </a:p>
          <a:p>
            <a:pPr marL="285750" indent="-285750" algn="l">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Abstract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Introduction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System Overview </a:t>
            </a:r>
            <a:endParaRPr lang="en-IN" sz="1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200" dirty="0" smtClean="0">
                <a:latin typeface="Times New Roman" panose="02020603050405020304" pitchFamily="18" charset="0"/>
                <a:cs typeface="Times New Roman" panose="02020603050405020304" pitchFamily="18" charset="0"/>
              </a:rPr>
              <a:t>Technologies </a:t>
            </a:r>
            <a:r>
              <a:rPr lang="en-IN" sz="1200" dirty="0">
                <a:latin typeface="Times New Roman" panose="02020603050405020304" pitchFamily="18" charset="0"/>
                <a:cs typeface="Times New Roman" panose="02020603050405020304" pitchFamily="18" charset="0"/>
              </a:rPr>
              <a:t>Used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Database Design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System Modules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Implementation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Output Screens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Conclusion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References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Appendix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Login Screen (if implemented)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Add Record Screen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Search Screen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Update Screen </a:t>
            </a:r>
          </a:p>
          <a:p>
            <a:pPr marL="285750"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Display Records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066800"/>
            <a:ext cx="3226130" cy="649023"/>
          </a:xfrm>
          <a:prstGeom prst="rect">
            <a:avLst/>
          </a:prstGeom>
        </p:spPr>
        <p:txBody>
          <a:bodyPr vert="horz" wrap="square" lIns="0" tIns="337946" rIns="0" bIns="0" rtlCol="0">
            <a:spAutoFit/>
          </a:bodyPr>
          <a:lstStyle/>
          <a:p>
            <a:pPr marL="377825" algn="l">
              <a:lnSpc>
                <a:spcPct val="100000"/>
              </a:lnSpc>
              <a:spcBef>
                <a:spcPts val="100"/>
              </a:spcBef>
            </a:pPr>
            <a:r>
              <a:rPr lang="en-IN" sz="2000" spc="-10" dirty="0" smtClean="0"/>
              <a:t>Abstract:</a:t>
            </a:r>
            <a:endParaRPr sz="2000" spc="-10" dirty="0"/>
          </a:p>
        </p:txBody>
      </p:sp>
      <p:sp>
        <p:nvSpPr>
          <p:cNvPr id="3" name="object 3"/>
          <p:cNvSpPr txBox="1"/>
          <p:nvPr/>
        </p:nvSpPr>
        <p:spPr>
          <a:xfrm>
            <a:off x="609600" y="1524000"/>
            <a:ext cx="10447020" cy="3029676"/>
          </a:xfrm>
          <a:prstGeom prst="rect">
            <a:avLst/>
          </a:prstGeom>
        </p:spPr>
        <p:txBody>
          <a:bodyPr vert="horz" wrap="square" lIns="0" tIns="13335" rIns="0" bIns="0" rtlCol="0">
            <a:spAutoFit/>
          </a:bodyPr>
          <a:lstStyle/>
          <a:p>
            <a:endParaRPr lang="en-US" sz="1400" b="1" dirty="0" smtClean="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advancement of digital technologies has significantly transformed the education system, especially in the way assessments and evaluations are conducted. Traditional quiz systems are often manual, time-consuming, and prone to human errors, making them inefficient in today’s fast-paced learning environment. These systems also lack proper data management and do not provide instant feedback to students, which is essential for effective learning. To overcome these limitations, this project focuses on the design and development of an </a:t>
            </a:r>
            <a:r>
              <a:rPr lang="en-US" sz="1400" b="1" dirty="0">
                <a:latin typeface="Times New Roman" panose="02020603050405020304" pitchFamily="18" charset="0"/>
                <a:cs typeface="Times New Roman" panose="02020603050405020304" pitchFamily="18" charset="0"/>
              </a:rPr>
              <a:t>Online Quiz Application</a:t>
            </a:r>
            <a:r>
              <a:rPr lang="en-US" sz="1400" dirty="0">
                <a:latin typeface="Times New Roman" panose="02020603050405020304" pitchFamily="18" charset="0"/>
                <a:cs typeface="Times New Roman" panose="02020603050405020304" pitchFamily="18" charset="0"/>
              </a:rPr>
              <a:t>, a web-based platform that automates the process of conducting quizzes and evaluating results. </a:t>
            </a:r>
          </a:p>
          <a:p>
            <a:r>
              <a:rPr lang="en-US" sz="1400" dirty="0">
                <a:latin typeface="Times New Roman" panose="02020603050405020304" pitchFamily="18" charset="0"/>
                <a:cs typeface="Times New Roman" panose="02020603050405020304" pitchFamily="18" charset="0"/>
              </a:rPr>
              <a:t>The Online Quiz Application provides a user-friendly interface that allows users to register, log in, and participate in quizzes from any location with internet access. The system ensures flexibility and accessibility, enabling students to attempt quizzes at their convenience. On the other hand, the administrator module allows authorized users to create, update, and manage quiz questions efficiently. This dual functionality ensures smooth operation and effective management of quiz-related activities. </a:t>
            </a:r>
          </a:p>
          <a:p>
            <a:r>
              <a:rPr lang="en-US" sz="1400" dirty="0">
                <a:latin typeface="Times New Roman" panose="02020603050405020304" pitchFamily="18" charset="0"/>
                <a:cs typeface="Times New Roman" panose="02020603050405020304" pitchFamily="18" charset="0"/>
              </a:rPr>
              <a:t>The application is developed using modern web technologies such as HTML, CSS, and JavaScript for frontend design, Node.js for backend processing, and MongoDB for database management. These technologies provide a robust and scalable framework for building the application. In addition, AI-based development tools were utilized to speed up the development process; however, the core logic, system design, and implementation were completely developed and understood by the team. </a:t>
            </a:r>
            <a:endParaRPr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800" y="685800"/>
            <a:ext cx="6588761" cy="382797"/>
          </a:xfrm>
          <a:prstGeom prst="rect">
            <a:avLst/>
          </a:prstGeom>
        </p:spPr>
        <p:txBody>
          <a:bodyPr vert="horz" wrap="square" lIns="0" tIns="13335" rIns="0" bIns="0" rtlCol="0">
            <a:spAutoFit/>
          </a:bodyPr>
          <a:lstStyle/>
          <a:p>
            <a:pPr marL="12700">
              <a:lnSpc>
                <a:spcPct val="100000"/>
              </a:lnSpc>
              <a:spcBef>
                <a:spcPts val="105"/>
              </a:spcBef>
            </a:pPr>
            <a:r>
              <a:rPr lang="en-IN" dirty="0"/>
              <a:t>CHAPTER 1: INTRODUCTION</a:t>
            </a:r>
            <a:endParaRPr u="sng" dirty="0"/>
          </a:p>
        </p:txBody>
      </p:sp>
      <p:sp>
        <p:nvSpPr>
          <p:cNvPr id="3" name="object 3"/>
          <p:cNvSpPr txBox="1">
            <a:spLocks noGrp="1"/>
          </p:cNvSpPr>
          <p:nvPr>
            <p:ph type="body" idx="1"/>
          </p:nvPr>
        </p:nvSpPr>
        <p:spPr>
          <a:xfrm>
            <a:off x="762000" y="1371600"/>
            <a:ext cx="10199369" cy="3005951"/>
          </a:xfrm>
          <a:prstGeom prst="rect">
            <a:avLst/>
          </a:prstGeom>
        </p:spPr>
        <p:txBody>
          <a:bodyPr vert="horz" wrap="square" lIns="0" tIns="111760" rIns="0" bIns="0" rtlCol="0">
            <a:spAutoFit/>
          </a:bodyPr>
          <a:lstStyle/>
          <a:p>
            <a:pPr algn="l"/>
            <a:r>
              <a:rPr lang="en-US" sz="2000" b="1" dirty="0" smtClean="0">
                <a:latin typeface="Times New Roman" panose="02020603050405020304" pitchFamily="18" charset="0"/>
                <a:cs typeface="Times New Roman" panose="02020603050405020304" pitchFamily="18" charset="0"/>
              </a:rPr>
              <a:t>Introduction:</a:t>
            </a:r>
          </a:p>
          <a:p>
            <a:r>
              <a:rPr lang="en-US" sz="1400" dirty="0" smtClean="0">
                <a:latin typeface="Times New Roman" panose="02020603050405020304" pitchFamily="18" charset="0"/>
                <a:cs typeface="Times New Roman" panose="02020603050405020304" pitchFamily="18" charset="0"/>
              </a:rPr>
              <a:t>In today’s digital era, technology plays a crucial role in transforming traditional methods into more efficient and accessible systems. One such advancement is the development of online platforms for conducting quizzes and assessments. The Online Quiz Application is designed to replace the conventional paper-based examination system with a more flexible and automated solution.</a:t>
            </a:r>
          </a:p>
          <a:p>
            <a:r>
              <a:rPr lang="en-US" sz="1400" dirty="0" smtClean="0">
                <a:latin typeface="Times New Roman" panose="02020603050405020304" pitchFamily="18" charset="0"/>
                <a:cs typeface="Times New Roman" panose="02020603050405020304" pitchFamily="18" charset="0"/>
              </a:rPr>
              <a:t>This </a:t>
            </a:r>
            <a:r>
              <a:rPr lang="en-US" sz="1400" dirty="0">
                <a:latin typeface="Times New Roman" panose="02020603050405020304" pitchFamily="18" charset="0"/>
                <a:cs typeface="Times New Roman" panose="02020603050405020304" pitchFamily="18" charset="0"/>
              </a:rPr>
              <a:t>application provides a platform where users can easily register, log in, and participate in quizzes from anywhere at any time. It eliminates the need for manual evaluation by automatically calculating scores and displaying results instantly. The system ensures accuracy, saves time, and reduces the chances of errors that are common in traditional methods.</a:t>
            </a:r>
          </a:p>
          <a:p>
            <a:r>
              <a:rPr lang="en-US" sz="1400" dirty="0">
                <a:latin typeface="Times New Roman" panose="02020603050405020304" pitchFamily="18" charset="0"/>
                <a:cs typeface="Times New Roman" panose="02020603050405020304" pitchFamily="18" charset="0"/>
              </a:rPr>
              <a:t>The application consists of two main components: the user module and the admin module. The user module allows participants to take quizzes and view their results, while the admin module enables administrators to manage questions, users, and quiz data efficiently. The system is built using web technologies, making it user-friendly and responsive.</a:t>
            </a:r>
          </a:p>
          <a:p>
            <a:r>
              <a:rPr lang="en-US" sz="1400" dirty="0">
                <a:latin typeface="Times New Roman" panose="02020603050405020304" pitchFamily="18" charset="0"/>
                <a:cs typeface="Times New Roman" panose="02020603050405020304" pitchFamily="18" charset="0"/>
              </a:rPr>
              <a:t>The primary aim of this project is to enhance the learning and assessment experience by providing a fast, reliable, and secure platform for conducting quizzes. It is widely applicable in schools, colleges, and online learning environments, helping both educators and learners achieve better outcomes.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066800"/>
            <a:ext cx="3226130" cy="590803"/>
          </a:xfrm>
          <a:prstGeom prst="rect">
            <a:avLst/>
          </a:prstGeom>
        </p:spPr>
        <p:txBody>
          <a:bodyPr vert="horz" wrap="square" lIns="0" tIns="280289" rIns="0" bIns="0" rtlCol="0">
            <a:spAutoFit/>
          </a:bodyPr>
          <a:lstStyle/>
          <a:p>
            <a:pPr marL="191770" algn="l">
              <a:lnSpc>
                <a:spcPct val="100000"/>
              </a:lnSpc>
              <a:spcBef>
                <a:spcPts val="100"/>
              </a:spcBef>
            </a:pPr>
            <a:r>
              <a:rPr lang="en-IN" sz="2000" spc="-10" dirty="0" smtClean="0">
                <a:latin typeface="Times New Roman" panose="02020603050405020304" pitchFamily="18" charset="0"/>
                <a:cs typeface="Times New Roman" panose="02020603050405020304" pitchFamily="18" charset="0"/>
              </a:rPr>
              <a:t>Problem Statement:</a:t>
            </a:r>
            <a:endParaRPr sz="2000" spc="-10" dirty="0">
              <a:latin typeface="Times New Roman" panose="02020603050405020304" pitchFamily="18" charset="0"/>
              <a:cs typeface="Times New Roman" panose="02020603050405020304" pitchFamily="18" charset="0"/>
            </a:endParaRPr>
          </a:p>
        </p:txBody>
      </p:sp>
      <p:sp>
        <p:nvSpPr>
          <p:cNvPr id="3" name="object 3"/>
          <p:cNvSpPr txBox="1"/>
          <p:nvPr/>
        </p:nvSpPr>
        <p:spPr>
          <a:xfrm>
            <a:off x="762000" y="1717670"/>
            <a:ext cx="10668000" cy="2383345"/>
          </a:xfrm>
          <a:prstGeom prst="rect">
            <a:avLst/>
          </a:prstGeom>
        </p:spPr>
        <p:txBody>
          <a:bodyPr vert="horz" wrap="square" lIns="0" tIns="13335" rIns="0" bIns="0" rtlCol="0">
            <a:spAutoFit/>
          </a:bodyPr>
          <a:lstStyle/>
          <a:p>
            <a:r>
              <a:rPr lang="en-US" sz="1400" dirty="0">
                <a:latin typeface="Times New Roman" panose="02020603050405020304" pitchFamily="18" charset="0"/>
                <a:cs typeface="Times New Roman" panose="02020603050405020304" pitchFamily="18" charset="0"/>
              </a:rPr>
              <a:t>In the current education system, quizzes and examinations are often conducted using traditional methods that require manual effort for both conducting the test and evaluating the answers. These methods are time-consuming, less efficient, and prone to human errors. Evaluating a large number of answer sheets manually can lead to mistakes, delays in result declaration, and inconsistency in assessment. </a:t>
            </a:r>
          </a:p>
          <a:p>
            <a:r>
              <a:rPr lang="en-US" sz="1400" dirty="0">
                <a:latin typeface="Times New Roman" panose="02020603050405020304" pitchFamily="18" charset="0"/>
                <a:cs typeface="Times New Roman" panose="02020603050405020304" pitchFamily="18" charset="0"/>
              </a:rPr>
              <a:t>Another major issue with the existing system is the lack of automation and proper data management. Quiz data, including questions, answers, and student results, is often not stored in a structured manner. This makes it difficult to retrieve, analyze, and maintain records effectively. Additionally, students do not have easy access to practice quizzes, which limits their ability to improve their knowledge and performance. </a:t>
            </a:r>
          </a:p>
          <a:p>
            <a:r>
              <a:rPr lang="en-US" sz="1400" dirty="0">
                <a:latin typeface="Times New Roman" panose="02020603050405020304" pitchFamily="18" charset="0"/>
                <a:cs typeface="Times New Roman" panose="02020603050405020304" pitchFamily="18" charset="0"/>
              </a:rPr>
              <a:t>Traditional quiz systems also lack flexibility and accessibility. Students are required to be physically present at a specific location and time to take the test. This creates inconvenience, especially in situations where remote access is necessary. Furthermore, there is no provision for instant feedback, which is essential for helping students understand their mistakes and improve their learning outcomes. </a:t>
            </a:r>
          </a:p>
          <a:p>
            <a:r>
              <a:rPr lang="en-US" sz="1400" dirty="0">
                <a:latin typeface="Times New Roman" panose="02020603050405020304" pitchFamily="18" charset="0"/>
                <a:cs typeface="Times New Roman" panose="02020603050405020304" pitchFamily="18" charset="0"/>
              </a:rPr>
              <a:t>Moreover, the absence of a centralized system makes it difficult for administrators to create, update, and manage quizzes efficiently. Managing large amounts of quiz data manually increases the chances of errors and reduces overall productivity. </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5800" y="1226312"/>
            <a:ext cx="6876796" cy="386644"/>
          </a:xfrm>
          <a:prstGeom prst="rect">
            <a:avLst/>
          </a:prstGeom>
        </p:spPr>
        <p:txBody>
          <a:bodyPr vert="horz" wrap="square" lIns="0" tIns="78105" rIns="0" bIns="0" rtlCol="0">
            <a:spAutoFit/>
          </a:bodyPr>
          <a:lstStyle/>
          <a:p>
            <a:pPr algn="l"/>
            <a:r>
              <a:rPr lang="en-US" sz="2000" b="1" dirty="0" smtClean="0">
                <a:latin typeface="Times New Roman" panose="02020603050405020304" pitchFamily="18" charset="0"/>
                <a:cs typeface="Times New Roman" panose="02020603050405020304" pitchFamily="18" charset="0"/>
              </a:rPr>
              <a:t>Objectives of the Project</a:t>
            </a:r>
          </a:p>
        </p:txBody>
      </p:sp>
      <p:sp>
        <p:nvSpPr>
          <p:cNvPr id="3" name="Rectangle 1"/>
          <p:cNvSpPr>
            <a:spLocks noChangeArrowheads="1"/>
          </p:cNvSpPr>
          <p:nvPr/>
        </p:nvSpPr>
        <p:spPr bwMode="auto">
          <a:xfrm>
            <a:off x="609600" y="1371600"/>
            <a:ext cx="1143000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main objective of this project is to develop an efficient and user-friendly </a:t>
            </a:r>
            <a:r>
              <a:rPr lang="en-US" sz="1400" b="1" dirty="0">
                <a:latin typeface="Times New Roman" panose="02020603050405020304" pitchFamily="18" charset="0"/>
                <a:cs typeface="Times New Roman" panose="02020603050405020304" pitchFamily="18" charset="0"/>
              </a:rPr>
              <a:t>Online Quiz Application </a:t>
            </a:r>
            <a:r>
              <a:rPr lang="en-US" sz="1400" dirty="0">
                <a:latin typeface="Times New Roman" panose="02020603050405020304" pitchFamily="18" charset="0"/>
                <a:cs typeface="Times New Roman" panose="02020603050405020304" pitchFamily="18" charset="0"/>
              </a:rPr>
              <a:t>that automates the process of conducting quizzes and evaluating results. The system is designed to simplify quiz management, improve accessibility, and provide accurate and instant feedback to users. </a:t>
            </a:r>
          </a:p>
          <a:p>
            <a:r>
              <a:rPr lang="en-US" sz="1400" dirty="0">
                <a:latin typeface="Times New Roman" panose="02020603050405020304" pitchFamily="18" charset="0"/>
                <a:cs typeface="Times New Roman" panose="02020603050405020304" pitchFamily="18" charset="0"/>
              </a:rPr>
              <a:t>The specific objectives of the project are as follows: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design and develop a web-based platform that allows users to register and log in securely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provide an interactive interface for users to attempt quizzes anytime and from any location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enable administrators to create, update, and manage quiz questions easily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automate the evaluation process and generate results instantly after quiz submission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store and manage user data, quiz questions, and results efficiently using a database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reduce manual effort and minimize errors in quiz evaluation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improve the speed and accuracy of the assessment process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provide a flexible and scalable system that can handle multiple users simultaneously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enhance the learning experience by providing immediate feedback to users </a:t>
            </a:r>
          </a:p>
          <a:p>
            <a:pPr marL="285750" indent="-285750">
              <a:buFont typeface="Arial" panose="020B0604020202020204" pitchFamily="34" charset="0"/>
              <a:buChar char="•"/>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To ensure proper data management and easy retrieval of information </a:t>
            </a:r>
          </a:p>
          <a:p>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project also aims to demonstrate the effective use of modern web technologies in developing real-time applications. AI-based development tools were used to speed up the development process, while the system’s logic, structure, and implementation were fully designed and executed by the developers. </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838200"/>
            <a:ext cx="3243649" cy="669671"/>
          </a:xfrm>
          <a:prstGeom prst="rect">
            <a:avLst/>
          </a:prstGeom>
        </p:spPr>
        <p:txBody>
          <a:bodyPr vert="horz" wrap="square" lIns="0" tIns="358394" rIns="0" bIns="0" rtlCol="0">
            <a:spAutoFit/>
          </a:bodyPr>
          <a:lstStyle/>
          <a:p>
            <a:pPr marL="184150">
              <a:lnSpc>
                <a:spcPct val="100000"/>
              </a:lnSpc>
              <a:spcBef>
                <a:spcPts val="100"/>
              </a:spcBef>
            </a:pPr>
            <a:r>
              <a:rPr lang="en-IN" sz="2000" spc="-10" dirty="0" smtClean="0">
                <a:latin typeface="Times New Roman" panose="02020603050405020304" pitchFamily="18" charset="0"/>
                <a:cs typeface="Times New Roman" panose="02020603050405020304" pitchFamily="18" charset="0"/>
              </a:rPr>
              <a:t>Scope of </a:t>
            </a:r>
            <a:r>
              <a:rPr lang="en-IN" sz="2000" spc="-10" dirty="0" smtClean="0">
                <a:latin typeface="Times New Roman" panose="02020603050405020304" pitchFamily="18" charset="0"/>
                <a:cs typeface="Times New Roman" panose="02020603050405020304" pitchFamily="18" charset="0"/>
              </a:rPr>
              <a:t>Project:</a:t>
            </a:r>
            <a:endParaRPr sz="2000" spc="-10" dirty="0">
              <a:latin typeface="Times New Roman" panose="02020603050405020304" pitchFamily="18" charset="0"/>
              <a:cs typeface="Times New Roman" panose="02020603050405020304" pitchFamily="18" charset="0"/>
            </a:endParaRPr>
          </a:p>
        </p:txBody>
      </p:sp>
      <p:sp>
        <p:nvSpPr>
          <p:cNvPr id="3" name="object 3"/>
          <p:cNvSpPr txBox="1"/>
          <p:nvPr/>
        </p:nvSpPr>
        <p:spPr>
          <a:xfrm>
            <a:off x="762000" y="1143000"/>
            <a:ext cx="10439400" cy="2998257"/>
          </a:xfrm>
          <a:prstGeom prst="rect">
            <a:avLst/>
          </a:prstGeom>
        </p:spPr>
        <p:txBody>
          <a:bodyPr vert="horz" wrap="square" lIns="0" tIns="195580" rIns="0" bIns="0" rtlCol="0">
            <a:spAutoFit/>
          </a:bodyPr>
          <a:lstStyle/>
          <a:p>
            <a:endParaRPr lang="en-US" sz="1400" b="1" dirty="0" smtClean="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scope of this project is to develop a web-based </a:t>
            </a:r>
            <a:r>
              <a:rPr lang="en-US" sz="1400" b="1" dirty="0">
                <a:latin typeface="Times New Roman" panose="02020603050405020304" pitchFamily="18" charset="0"/>
                <a:cs typeface="Times New Roman" panose="02020603050405020304" pitchFamily="18" charset="0"/>
              </a:rPr>
              <a:t>Online Quiz Application </a:t>
            </a:r>
            <a:r>
              <a:rPr lang="en-US" sz="1400" dirty="0">
                <a:latin typeface="Times New Roman" panose="02020603050405020304" pitchFamily="18" charset="0"/>
                <a:cs typeface="Times New Roman" panose="02020603050405020304" pitchFamily="18" charset="0"/>
              </a:rPr>
              <a:t>that provides an efficient platform for conducting quizzes and managing assessments digitally. The system is designed to be simple, user-friendly, and accessible, making it suitable for a wide range of users including students, teachers, and training organizations. </a:t>
            </a:r>
          </a:p>
          <a:p>
            <a:r>
              <a:rPr lang="en-US" sz="1400" dirty="0">
                <a:latin typeface="Times New Roman" panose="02020603050405020304" pitchFamily="18" charset="0"/>
                <a:cs typeface="Times New Roman" panose="02020603050405020304" pitchFamily="18" charset="0"/>
              </a:rPr>
              <a:t>The application allows users to register, log in, and attempt quizzes from any location with internet access. This improves flexibility and eliminates the need for physical presence during assessments. The system also provides instant evaluation and result generation, which helps users understand their performance immediately. </a:t>
            </a:r>
          </a:p>
          <a:p>
            <a:r>
              <a:rPr lang="en-US" sz="1400" dirty="0">
                <a:latin typeface="Times New Roman" panose="02020603050405020304" pitchFamily="18" charset="0"/>
                <a:cs typeface="Times New Roman" panose="02020603050405020304" pitchFamily="18" charset="0"/>
              </a:rPr>
              <a:t>The project includes an administrator module that enables authorized users to create, update, and manage quiz questions effectively. Admins can organize quizzes based on different topics and control the overall functionality of the system. This ensures proper management of quiz data and smooth operation of the application. </a:t>
            </a:r>
          </a:p>
          <a:p>
            <a:r>
              <a:rPr lang="en-US" sz="1400" dirty="0">
                <a:latin typeface="Times New Roman" panose="02020603050405020304" pitchFamily="18" charset="0"/>
                <a:cs typeface="Times New Roman" panose="02020603050405020304" pitchFamily="18" charset="0"/>
              </a:rPr>
              <a:t>The system uses a database to store user information, quiz questions, answers, and results. This ensures efficient data management, easy retrieval of information, and better record maintenance. The application is developed using modern web technologies, making it scalable and capable of handling multiple users. </a:t>
            </a:r>
            <a:r>
              <a:rPr lang="en-US" sz="1400" dirty="0" smtClean="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6200" y="685800"/>
            <a:ext cx="7967676" cy="259045"/>
          </a:xfrm>
          <a:prstGeom prst="rect">
            <a:avLst/>
          </a:prstGeom>
        </p:spPr>
        <p:txBody>
          <a:bodyPr vert="horz" wrap="square" lIns="0" tIns="12700" rIns="0" bIns="0" rtlCol="0">
            <a:spAutoFit/>
          </a:bodyPr>
          <a:lstStyle/>
          <a:p>
            <a:pPr marL="12700">
              <a:lnSpc>
                <a:spcPct val="100000"/>
              </a:lnSpc>
              <a:spcBef>
                <a:spcPts val="100"/>
              </a:spcBef>
            </a:pPr>
            <a:r>
              <a:rPr lang="en-IN" sz="1600" dirty="0"/>
              <a:t>CHAPTER 2: SYSTEM OVERVIEW</a:t>
            </a:r>
            <a:endParaRPr sz="1600" u="sng" spc="-10" dirty="0"/>
          </a:p>
        </p:txBody>
      </p:sp>
      <p:sp>
        <p:nvSpPr>
          <p:cNvPr id="8" name="Rectangle 7"/>
          <p:cNvSpPr/>
          <p:nvPr/>
        </p:nvSpPr>
        <p:spPr>
          <a:xfrm>
            <a:off x="762000" y="1524000"/>
            <a:ext cx="10363200" cy="2985433"/>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System </a:t>
            </a:r>
            <a:r>
              <a:rPr lang="en-US" sz="2000" b="1" dirty="0" smtClean="0">
                <a:latin typeface="Times New Roman" panose="02020603050405020304" pitchFamily="18" charset="0"/>
                <a:cs typeface="Times New Roman" panose="02020603050405020304" pitchFamily="18" charset="0"/>
              </a:rPr>
              <a:t>Overview:</a:t>
            </a:r>
            <a:endParaRPr lang="en-US" sz="2000" b="1" dirty="0" smtClean="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In the current scenario, quiz and examination systems are mostly conducted using traditional or semi-digital methods. These methods include paper-based tests, manual evaluation, or basic computer-based systems that lack automation and advanced features. Such systems are widely used in schools and colleges but have several drawbacks that affect efficiency and accuracy. </a:t>
            </a:r>
          </a:p>
          <a:p>
            <a:r>
              <a:rPr lang="en-US" sz="1400" dirty="0">
                <a:latin typeface="Times New Roman" panose="02020603050405020304" pitchFamily="18" charset="0"/>
                <a:cs typeface="Times New Roman" panose="02020603050405020304" pitchFamily="18" charset="0"/>
              </a:rPr>
              <a:t>In traditional quiz systems, teachers or instructors prepare question papers manually and distribute them to students. After completion, answer sheets are collected and evaluated manually. This process requires a significant amount of time and effort, especially when dealing with a large number of students. The evaluation process is also prone to human errors, which may lead to incorrect results. </a:t>
            </a:r>
          </a:p>
          <a:p>
            <a:r>
              <a:rPr lang="en-US" sz="1400" dirty="0">
                <a:latin typeface="Times New Roman" panose="02020603050405020304" pitchFamily="18" charset="0"/>
                <a:cs typeface="Times New Roman" panose="02020603050405020304" pitchFamily="18" charset="0"/>
              </a:rPr>
              <a:t>Even in some digital systems, the functionality is limited. These systems may allow basic quiz attempts but often lack features such as automated result generation, proper data storage, and efficient quiz management. In many cases, data is not stored in a structured format, making it difficult to retrieve and analyze information later. </a:t>
            </a:r>
          </a:p>
          <a:p>
            <a:r>
              <a:rPr lang="en-US" sz="1400" dirty="0">
                <a:latin typeface="Times New Roman" panose="02020603050405020304" pitchFamily="18" charset="0"/>
                <a:cs typeface="Times New Roman" panose="02020603050405020304" pitchFamily="18" charset="0"/>
              </a:rPr>
              <a:t>Another major issue with the existing system is the lack of accessibility and flexibility. Students are required to be physically present at a specific location to attend the quiz. This creates inconvenience and limits the ability to conduct remote assessments. Additionally, these systems do not provide instant feedback, which is important for improving learning outcomes. </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038944"/>
            <a:ext cx="5257800" cy="653589"/>
          </a:xfrm>
          <a:prstGeom prst="rect">
            <a:avLst/>
          </a:prstGeom>
        </p:spPr>
        <p:txBody>
          <a:bodyPr vert="horz" wrap="square" lIns="0" tIns="342468" rIns="0" bIns="0" rtlCol="0">
            <a:spAutoFit/>
          </a:bodyPr>
          <a:lstStyle/>
          <a:p>
            <a:pPr marL="444500">
              <a:lnSpc>
                <a:spcPct val="100000"/>
              </a:lnSpc>
              <a:spcBef>
                <a:spcPts val="100"/>
              </a:spcBef>
            </a:pPr>
            <a:r>
              <a:rPr lang="en-IN" sz="2000" spc="-10" dirty="0" smtClean="0">
                <a:latin typeface="Times New Roman" panose="02020603050405020304" pitchFamily="18" charset="0"/>
                <a:cs typeface="Times New Roman" panose="02020603050405020304" pitchFamily="18" charset="0"/>
              </a:rPr>
              <a:t>Main Agenda (core idea</a:t>
            </a:r>
            <a:r>
              <a:rPr lang="en-IN" sz="2000" spc="-10" dirty="0" smtClean="0">
                <a:latin typeface="Times New Roman" panose="02020603050405020304" pitchFamily="18" charset="0"/>
                <a:cs typeface="Times New Roman" panose="02020603050405020304" pitchFamily="18" charset="0"/>
              </a:rPr>
              <a:t>):</a:t>
            </a:r>
            <a:endParaRPr sz="2000" spc="-10" dirty="0">
              <a:latin typeface="Times New Roman" panose="02020603050405020304" pitchFamily="18" charset="0"/>
              <a:cs typeface="Times New Roman" panose="02020603050405020304" pitchFamily="18" charset="0"/>
            </a:endParaRPr>
          </a:p>
        </p:txBody>
      </p:sp>
      <p:sp>
        <p:nvSpPr>
          <p:cNvPr id="3" name="object 3"/>
          <p:cNvSpPr txBox="1"/>
          <p:nvPr/>
        </p:nvSpPr>
        <p:spPr>
          <a:xfrm>
            <a:off x="838200" y="1713128"/>
            <a:ext cx="8686800" cy="2167901"/>
          </a:xfrm>
          <a:prstGeom prst="rect">
            <a:avLst/>
          </a:prstGeom>
        </p:spPr>
        <p:txBody>
          <a:bodyPr vert="horz" wrap="square" lIns="0" tIns="13335" rIns="0" bIns="0" rtlCol="0">
            <a:spAutoFit/>
          </a:bodyPr>
          <a:lstStyle/>
          <a:p>
            <a:r>
              <a:rPr lang="en-US" sz="1400" dirty="0" smtClean="0">
                <a:latin typeface="Times New Roman" panose="02020603050405020304" pitchFamily="18" charset="0"/>
                <a:cs typeface="Times New Roman" panose="02020603050405020304" pitchFamily="18" charset="0"/>
              </a:rPr>
              <a:t>The main agenda of the Online Quiz Application is to develop an efficient and user-friendly platform for conducting quizzes digitally. The project focuses on simplifying the traditional examination process by automating quiz creation, participation, and evaluation.</a:t>
            </a:r>
          </a:p>
          <a:p>
            <a:r>
              <a:rPr lang="en-US" sz="1400" dirty="0" smtClean="0">
                <a:latin typeface="Times New Roman" panose="02020603050405020304" pitchFamily="18" charset="0"/>
                <a:cs typeface="Times New Roman" panose="02020603050405020304" pitchFamily="18" charset="0"/>
              </a:rPr>
              <a:t>It aims to provide a secure system where users can easily register, log in, and attempt quizzes from anywhere at any time. Another key agenda is to deliver instant results and feedback, helping users quickly understand their performance.</a:t>
            </a:r>
          </a:p>
          <a:p>
            <a:r>
              <a:rPr lang="en-US" sz="1400" dirty="0" smtClean="0">
                <a:latin typeface="Times New Roman" panose="02020603050405020304" pitchFamily="18" charset="0"/>
                <a:cs typeface="Times New Roman" panose="02020603050405020304" pitchFamily="18" charset="0"/>
              </a:rPr>
              <a:t>The system also focuses on enabling administrators to manage quiz content effectively, including adding, updating, and deleting questions. Additionally, it ensures proper data management, accuracy in evaluation, and a smooth user experience.</a:t>
            </a:r>
          </a:p>
          <a:p>
            <a:r>
              <a:rPr lang="en-US" sz="1400" dirty="0" smtClean="0">
                <a:latin typeface="Times New Roman" panose="02020603050405020304" pitchFamily="18" charset="0"/>
                <a:cs typeface="Times New Roman" panose="02020603050405020304" pitchFamily="18" charset="0"/>
              </a:rPr>
              <a:t>Overall, the agenda is to create a reliable, scalable, and time-saving solution that enhances learning and assessment through technology.</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1219200"/>
            <a:ext cx="10363200" cy="3121367"/>
          </a:xfrm>
          <a:prstGeom prst="rect">
            <a:avLst/>
          </a:prstGeom>
        </p:spPr>
        <p:txBody>
          <a:bodyPr vert="horz" wrap="square" lIns="0" tIns="12700" rIns="0" bIns="0" rtlCol="0">
            <a:spAutoFit/>
          </a:bodyPr>
          <a:lstStyle/>
          <a:p>
            <a:r>
              <a:rPr lang="en-IN" sz="2000" dirty="0" smtClean="0">
                <a:latin typeface="Times New Roman" panose="02020603050405020304" pitchFamily="18" charset="0"/>
                <a:cs typeface="Times New Roman" panose="02020603050405020304" pitchFamily="18" charset="0"/>
              </a:rPr>
              <a:t>System Architecture:</a:t>
            </a:r>
            <a:r>
              <a:rPr lang="en-IN" sz="1400" u="sng" dirty="0" smtClean="0">
                <a:latin typeface="Times New Roman" panose="02020603050405020304" pitchFamily="18" charset="0"/>
                <a:cs typeface="Times New Roman" panose="02020603050405020304" pitchFamily="18" charset="0"/>
              </a:rPr>
              <a:t/>
            </a:r>
            <a:br>
              <a:rPr lang="en-IN" sz="1400" u="sng" dirty="0" smtClean="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The Online Quiz Application follows a three-tier architecture, which separates the system into different layers for better performance, scalability, and maintenance.</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1. Presentation Layer (Frontend)</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This is the user interface of the application where users and admins interact with the system.</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It is developed using technologies like HTML, CSS, and JavaScript.</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Users can register, log in, attempt quizzes, and view results through this layer.</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2. Application Layer (Backend)</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This layer handles the core logic of the system.</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It processes user requests, validates inputs, manages quiz flow, and calculates results.</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Backend technologies like Python / Java / Node.js can be used to implement this layer.</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3. Data Layer (Database)</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This layer stores all the data required for the system, such as user details, quiz questions, answers, and results.</a:t>
            </a:r>
            <a:br>
              <a:rPr lang="en-US" sz="1400" b="0" dirty="0">
                <a:latin typeface="Times New Roman" panose="02020603050405020304" pitchFamily="18" charset="0"/>
                <a:cs typeface="Times New Roman" panose="02020603050405020304" pitchFamily="18" charset="0"/>
              </a:rPr>
            </a:br>
            <a:r>
              <a:rPr lang="en-US" sz="1400" b="0" dirty="0">
                <a:latin typeface="Times New Roman" panose="02020603050405020304" pitchFamily="18" charset="0"/>
                <a:cs typeface="Times New Roman" panose="02020603050405020304" pitchFamily="18" charset="0"/>
              </a:rPr>
              <a:t>Databases like MySQL / MongoDB are used to manage and retrieve data efficiently.</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762000" y="1295400"/>
            <a:ext cx="10210800" cy="4001095"/>
          </a:xfrm>
          <a:prstGeom prst="rect">
            <a:avLst/>
          </a:prstGeom>
        </p:spPr>
        <p:txBody>
          <a:bodyPr wrap="square">
            <a:spAutoFit/>
          </a:bodyPr>
          <a:lstStyle/>
          <a:p>
            <a:r>
              <a:rPr lang="en-US" sz="1400" b="1" dirty="0" smtClean="0">
                <a:latin typeface="Times New Roman" panose="02020603050405020304" pitchFamily="18" charset="0"/>
                <a:cs typeface="Times New Roman" panose="02020603050405020304" pitchFamily="18" charset="0"/>
              </a:rPr>
              <a:t>Features of the System</a:t>
            </a:r>
          </a:p>
          <a:p>
            <a:r>
              <a:rPr lang="en-US" sz="1200" b="1" dirty="0" smtClean="0">
                <a:latin typeface="Times New Roman" panose="02020603050405020304" pitchFamily="18" charset="0"/>
                <a:cs typeface="Times New Roman" panose="02020603050405020304" pitchFamily="18" charset="0"/>
              </a:rPr>
              <a:t>User Registration &amp; Login:</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Allows users to create accounts and securely log in to the system. </a:t>
            </a:r>
          </a:p>
          <a:p>
            <a:r>
              <a:rPr lang="en-US" sz="1200" b="1" dirty="0" smtClean="0">
                <a:latin typeface="Times New Roman" panose="02020603050405020304" pitchFamily="18" charset="0"/>
                <a:cs typeface="Times New Roman" panose="02020603050405020304" pitchFamily="18" charset="0"/>
              </a:rPr>
              <a:t>User-Friendly Interface:</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Simple and interactive design for easy navigation and better user experience. </a:t>
            </a:r>
          </a:p>
          <a:p>
            <a:r>
              <a:rPr lang="en-US" sz="1200" b="1" dirty="0" smtClean="0">
                <a:latin typeface="Times New Roman" panose="02020603050405020304" pitchFamily="18" charset="0"/>
                <a:cs typeface="Times New Roman" panose="02020603050405020304" pitchFamily="18" charset="0"/>
              </a:rPr>
              <a:t>Multiple Choice Questions (MCQs):</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Supports quizzes with objective-type questions for quick answering and evaluation. </a:t>
            </a:r>
          </a:p>
          <a:p>
            <a:r>
              <a:rPr lang="en-US" sz="1200" b="1" dirty="0" smtClean="0">
                <a:latin typeface="Times New Roman" panose="02020603050405020304" pitchFamily="18" charset="0"/>
                <a:cs typeface="Times New Roman" panose="02020603050405020304" pitchFamily="18" charset="0"/>
              </a:rPr>
              <a:t>Instant Result Generation:</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Automatically calculates and displays results immediately after quiz submission. </a:t>
            </a:r>
          </a:p>
          <a:p>
            <a:r>
              <a:rPr lang="en-US" sz="1200" b="1" dirty="0" smtClean="0">
                <a:latin typeface="Times New Roman" panose="02020603050405020304" pitchFamily="18" charset="0"/>
                <a:cs typeface="Times New Roman" panose="02020603050405020304" pitchFamily="18" charset="0"/>
              </a:rPr>
              <a:t>Admin Control Panel:</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Admin can add, update, delete questions, and manage user data efficiently. </a:t>
            </a:r>
          </a:p>
          <a:p>
            <a:r>
              <a:rPr lang="en-US" sz="1200" b="1" dirty="0" smtClean="0">
                <a:latin typeface="Times New Roman" panose="02020603050405020304" pitchFamily="18" charset="0"/>
                <a:cs typeface="Times New Roman" panose="02020603050405020304" pitchFamily="18" charset="0"/>
              </a:rPr>
              <a:t>Secure Data Management:</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Stores user details, quiz data, and results safely in the database. </a:t>
            </a:r>
          </a:p>
          <a:p>
            <a:r>
              <a:rPr lang="en-US" sz="1200" b="1" dirty="0" smtClean="0">
                <a:latin typeface="Times New Roman" panose="02020603050405020304" pitchFamily="18" charset="0"/>
                <a:cs typeface="Times New Roman" panose="02020603050405020304" pitchFamily="18" charset="0"/>
              </a:rPr>
              <a:t>Time Efficiency:</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Reduces manual effort in conducting and evaluating quizzes. </a:t>
            </a:r>
          </a:p>
          <a:p>
            <a:r>
              <a:rPr lang="en-US" sz="1200" b="1" dirty="0" smtClean="0">
                <a:latin typeface="Times New Roman" panose="02020603050405020304" pitchFamily="18" charset="0"/>
                <a:cs typeface="Times New Roman" panose="02020603050405020304" pitchFamily="18" charset="0"/>
              </a:rPr>
              <a:t>Accessibility:</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Users can take quizzes anytime and from anywhere using internet access. </a:t>
            </a:r>
          </a:p>
          <a:p>
            <a:r>
              <a:rPr lang="en-US" sz="1200" b="1" dirty="0" smtClean="0">
                <a:latin typeface="Times New Roman" panose="02020603050405020304" pitchFamily="18" charset="0"/>
                <a:cs typeface="Times New Roman" panose="02020603050405020304" pitchFamily="18" charset="0"/>
              </a:rPr>
              <a:t>Performance Tracking:</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Keeps records of user scores for future reference and analysis. </a:t>
            </a:r>
          </a:p>
          <a:p>
            <a:r>
              <a:rPr lang="en-US" sz="1200" b="1" dirty="0" smtClean="0">
                <a:latin typeface="Times New Roman" panose="02020603050405020304" pitchFamily="18" charset="0"/>
                <a:cs typeface="Times New Roman" panose="02020603050405020304" pitchFamily="18" charset="0"/>
              </a:rPr>
              <a:t>Scalability:</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System can be expanded with additional features like timers, leaderboards, and advanced question types. </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0" y="685800"/>
            <a:ext cx="6532068" cy="497572"/>
          </a:xfrm>
          <a:prstGeom prst="rect">
            <a:avLst/>
          </a:prstGeom>
        </p:spPr>
        <p:txBody>
          <a:bodyPr vert="horz" wrap="square" lIns="0" tIns="248920" rIns="0" bIns="0" rtlCol="0">
            <a:spAutoFit/>
          </a:bodyPr>
          <a:lstStyle/>
          <a:p>
            <a:pPr marL="12700">
              <a:lnSpc>
                <a:spcPct val="100000"/>
              </a:lnSpc>
              <a:spcBef>
                <a:spcPts val="100"/>
              </a:spcBef>
            </a:pPr>
            <a:r>
              <a:rPr lang="en-IN" sz="1600" dirty="0"/>
              <a:t>CHAPTER 3: TECHNOLOGIES USED</a:t>
            </a:r>
            <a:endParaRPr sz="1600" u="sng" spc="-10" dirty="0"/>
          </a:p>
        </p:txBody>
      </p:sp>
      <p:sp>
        <p:nvSpPr>
          <p:cNvPr id="3" name="object 3"/>
          <p:cNvSpPr txBox="1"/>
          <p:nvPr/>
        </p:nvSpPr>
        <p:spPr>
          <a:xfrm>
            <a:off x="838200" y="1524000"/>
            <a:ext cx="7620000" cy="4475584"/>
          </a:xfrm>
          <a:prstGeom prst="rect">
            <a:avLst/>
          </a:prstGeom>
        </p:spPr>
        <p:txBody>
          <a:bodyPr vert="horz" wrap="square" lIns="0" tIns="12700" rIns="0" bIns="0" rtlCol="0">
            <a:spAutoFit/>
          </a:bodyPr>
          <a:lstStyle/>
          <a:p>
            <a:r>
              <a:rPr lang="en-IN" sz="1400" b="1" dirty="0" smtClean="0">
                <a:latin typeface="Times New Roman" panose="02020603050405020304" pitchFamily="18" charset="0"/>
                <a:cs typeface="Times New Roman" panose="02020603050405020304" pitchFamily="18" charset="0"/>
              </a:rPr>
              <a:t>Technologies Used</a:t>
            </a:r>
          </a:p>
          <a:p>
            <a:r>
              <a:rPr lang="en-IN" sz="1200" b="1" dirty="0" smtClean="0">
                <a:latin typeface="Times New Roman" panose="02020603050405020304" pitchFamily="18" charset="0"/>
                <a:cs typeface="Times New Roman" panose="02020603050405020304" pitchFamily="18" charset="0"/>
              </a:rPr>
              <a:t>Frontend Technologies</a:t>
            </a:r>
          </a:p>
          <a:p>
            <a:r>
              <a:rPr lang="en-IN" sz="1200" b="1" dirty="0" smtClean="0">
                <a:latin typeface="Times New Roman" panose="02020603050405020304" pitchFamily="18" charset="0"/>
                <a:cs typeface="Times New Roman" panose="02020603050405020304" pitchFamily="18" charset="0"/>
              </a:rPr>
              <a:t>HTML:</a:t>
            </a:r>
            <a:r>
              <a:rPr lang="en-IN" sz="1200" dirty="0" smtClean="0">
                <a:latin typeface="Times New Roman" panose="02020603050405020304" pitchFamily="18" charset="0"/>
                <a:cs typeface="Times New Roman" panose="02020603050405020304" pitchFamily="18" charset="0"/>
              </a:rPr>
              <a:t/>
            </a:r>
            <a:br>
              <a:rPr lang="en-IN" sz="1200" dirty="0" smtClean="0">
                <a:latin typeface="Times New Roman" panose="02020603050405020304" pitchFamily="18" charset="0"/>
                <a:cs typeface="Times New Roman" panose="02020603050405020304" pitchFamily="18" charset="0"/>
              </a:rPr>
            </a:br>
            <a:r>
              <a:rPr lang="en-IN" sz="1200" dirty="0" smtClean="0">
                <a:latin typeface="Times New Roman" panose="02020603050405020304" pitchFamily="18" charset="0"/>
                <a:cs typeface="Times New Roman" panose="02020603050405020304" pitchFamily="18" charset="0"/>
              </a:rPr>
              <a:t>Used to design the structure of web pages. </a:t>
            </a:r>
          </a:p>
          <a:p>
            <a:r>
              <a:rPr lang="en-IN" sz="1200" b="1" dirty="0" smtClean="0">
                <a:latin typeface="Times New Roman" panose="02020603050405020304" pitchFamily="18" charset="0"/>
                <a:cs typeface="Times New Roman" panose="02020603050405020304" pitchFamily="18" charset="0"/>
              </a:rPr>
              <a:t>CSS:</a:t>
            </a:r>
            <a:r>
              <a:rPr lang="en-IN" sz="1200" dirty="0" smtClean="0">
                <a:latin typeface="Times New Roman" panose="02020603050405020304" pitchFamily="18" charset="0"/>
                <a:cs typeface="Times New Roman" panose="02020603050405020304" pitchFamily="18" charset="0"/>
              </a:rPr>
              <a:t/>
            </a:r>
            <a:br>
              <a:rPr lang="en-IN" sz="1200" dirty="0" smtClean="0">
                <a:latin typeface="Times New Roman" panose="02020603050405020304" pitchFamily="18" charset="0"/>
                <a:cs typeface="Times New Roman" panose="02020603050405020304" pitchFamily="18" charset="0"/>
              </a:rPr>
            </a:br>
            <a:r>
              <a:rPr lang="en-IN" sz="1200" dirty="0" smtClean="0">
                <a:latin typeface="Times New Roman" panose="02020603050405020304" pitchFamily="18" charset="0"/>
                <a:cs typeface="Times New Roman" panose="02020603050405020304" pitchFamily="18" charset="0"/>
              </a:rPr>
              <a:t>Used for styling and layout of the application. </a:t>
            </a:r>
          </a:p>
          <a:p>
            <a:r>
              <a:rPr lang="en-IN" sz="1200" b="1" dirty="0" smtClean="0">
                <a:latin typeface="Times New Roman" panose="02020603050405020304" pitchFamily="18" charset="0"/>
                <a:cs typeface="Times New Roman" panose="02020603050405020304" pitchFamily="18" charset="0"/>
              </a:rPr>
              <a:t>JavaScript:</a:t>
            </a:r>
            <a:r>
              <a:rPr lang="en-IN" sz="1200" dirty="0" smtClean="0">
                <a:latin typeface="Times New Roman" panose="02020603050405020304" pitchFamily="18" charset="0"/>
                <a:cs typeface="Times New Roman" panose="02020603050405020304" pitchFamily="18" charset="0"/>
              </a:rPr>
              <a:t/>
            </a:r>
            <a:br>
              <a:rPr lang="en-IN" sz="1200" dirty="0" smtClean="0">
                <a:latin typeface="Times New Roman" panose="02020603050405020304" pitchFamily="18" charset="0"/>
                <a:cs typeface="Times New Roman" panose="02020603050405020304" pitchFamily="18" charset="0"/>
              </a:rPr>
            </a:br>
            <a:r>
              <a:rPr lang="en-IN" sz="1200" dirty="0" smtClean="0">
                <a:latin typeface="Times New Roman" panose="02020603050405020304" pitchFamily="18" charset="0"/>
                <a:cs typeface="Times New Roman" panose="02020603050405020304" pitchFamily="18" charset="0"/>
              </a:rPr>
              <a:t>Adds interactivity and handles client-side logic. </a:t>
            </a:r>
          </a:p>
          <a:p>
            <a:r>
              <a:rPr lang="en-IN" sz="1200" b="1" dirty="0" smtClean="0">
                <a:latin typeface="Times New Roman" panose="02020603050405020304" pitchFamily="18" charset="0"/>
                <a:cs typeface="Times New Roman" panose="02020603050405020304" pitchFamily="18" charset="0"/>
              </a:rPr>
              <a:t>Backend Technologies</a:t>
            </a:r>
          </a:p>
          <a:p>
            <a:r>
              <a:rPr lang="en-IN" sz="1200" b="1" dirty="0" smtClean="0">
                <a:latin typeface="Times New Roman" panose="02020603050405020304" pitchFamily="18" charset="0"/>
                <a:cs typeface="Times New Roman" panose="02020603050405020304" pitchFamily="18" charset="0"/>
              </a:rPr>
              <a:t>Python / Java / Node.js:</a:t>
            </a:r>
            <a:r>
              <a:rPr lang="en-IN" sz="1200" dirty="0" smtClean="0">
                <a:latin typeface="Times New Roman" panose="02020603050405020304" pitchFamily="18" charset="0"/>
                <a:cs typeface="Times New Roman" panose="02020603050405020304" pitchFamily="18" charset="0"/>
              </a:rPr>
              <a:t/>
            </a:r>
            <a:br>
              <a:rPr lang="en-IN" sz="1200" dirty="0" smtClean="0">
                <a:latin typeface="Times New Roman" panose="02020603050405020304" pitchFamily="18" charset="0"/>
                <a:cs typeface="Times New Roman" panose="02020603050405020304" pitchFamily="18" charset="0"/>
              </a:rPr>
            </a:br>
            <a:r>
              <a:rPr lang="en-IN" sz="1200" dirty="0" smtClean="0">
                <a:latin typeface="Times New Roman" panose="02020603050405020304" pitchFamily="18" charset="0"/>
                <a:cs typeface="Times New Roman" panose="02020603050405020304" pitchFamily="18" charset="0"/>
              </a:rPr>
              <a:t>Used to implement server-side logic, handle requests, and process quiz data. </a:t>
            </a:r>
          </a:p>
          <a:p>
            <a:r>
              <a:rPr lang="en-IN" sz="1200" b="1" dirty="0" smtClean="0">
                <a:latin typeface="Times New Roman" panose="02020603050405020304" pitchFamily="18" charset="0"/>
                <a:cs typeface="Times New Roman" panose="02020603050405020304" pitchFamily="18" charset="0"/>
              </a:rPr>
              <a:t>Database</a:t>
            </a:r>
          </a:p>
          <a:p>
            <a:r>
              <a:rPr lang="en-IN" sz="1200" b="1" dirty="0" smtClean="0">
                <a:latin typeface="Times New Roman" panose="02020603050405020304" pitchFamily="18" charset="0"/>
                <a:cs typeface="Times New Roman" panose="02020603050405020304" pitchFamily="18" charset="0"/>
              </a:rPr>
              <a:t>MySQL / MongoDB:</a:t>
            </a:r>
            <a:r>
              <a:rPr lang="en-IN" sz="1200" dirty="0" smtClean="0">
                <a:latin typeface="Times New Roman" panose="02020603050405020304" pitchFamily="18" charset="0"/>
                <a:cs typeface="Times New Roman" panose="02020603050405020304" pitchFamily="18" charset="0"/>
              </a:rPr>
              <a:t/>
            </a:r>
            <a:br>
              <a:rPr lang="en-IN" sz="1200" dirty="0" smtClean="0">
                <a:latin typeface="Times New Roman" panose="02020603050405020304" pitchFamily="18" charset="0"/>
                <a:cs typeface="Times New Roman" panose="02020603050405020304" pitchFamily="18" charset="0"/>
              </a:rPr>
            </a:br>
            <a:r>
              <a:rPr lang="en-IN" sz="1200" dirty="0" smtClean="0">
                <a:latin typeface="Times New Roman" panose="02020603050405020304" pitchFamily="18" charset="0"/>
                <a:cs typeface="Times New Roman" panose="02020603050405020304" pitchFamily="18" charset="0"/>
              </a:rPr>
              <a:t>Used to store user information, quiz questions, answers, and results. </a:t>
            </a:r>
          </a:p>
          <a:p>
            <a:r>
              <a:rPr lang="en-IN" sz="1200" b="1" dirty="0" smtClean="0">
                <a:latin typeface="Times New Roman" panose="02020603050405020304" pitchFamily="18" charset="0"/>
                <a:cs typeface="Times New Roman" panose="02020603050405020304" pitchFamily="18" charset="0"/>
              </a:rPr>
              <a:t>Development Tools</a:t>
            </a:r>
          </a:p>
          <a:p>
            <a:r>
              <a:rPr lang="en-IN" sz="1200" b="1" dirty="0" smtClean="0">
                <a:latin typeface="Times New Roman" panose="02020603050405020304" pitchFamily="18" charset="0"/>
                <a:cs typeface="Times New Roman" panose="02020603050405020304" pitchFamily="18" charset="0"/>
              </a:rPr>
              <a:t>Visual Studio Code:</a:t>
            </a:r>
            <a:r>
              <a:rPr lang="en-IN" sz="1200" dirty="0" smtClean="0">
                <a:latin typeface="Times New Roman" panose="02020603050405020304" pitchFamily="18" charset="0"/>
                <a:cs typeface="Times New Roman" panose="02020603050405020304" pitchFamily="18" charset="0"/>
              </a:rPr>
              <a:t/>
            </a:r>
            <a:br>
              <a:rPr lang="en-IN" sz="1200" dirty="0" smtClean="0">
                <a:latin typeface="Times New Roman" panose="02020603050405020304" pitchFamily="18" charset="0"/>
                <a:cs typeface="Times New Roman" panose="02020603050405020304" pitchFamily="18" charset="0"/>
              </a:rPr>
            </a:br>
            <a:r>
              <a:rPr lang="en-IN" sz="1200" dirty="0" smtClean="0">
                <a:latin typeface="Times New Roman" panose="02020603050405020304" pitchFamily="18" charset="0"/>
                <a:cs typeface="Times New Roman" panose="02020603050405020304" pitchFamily="18" charset="0"/>
              </a:rPr>
              <a:t>Code editor used for writing and managing code. </a:t>
            </a:r>
          </a:p>
          <a:p>
            <a:r>
              <a:rPr lang="en-IN" sz="1200" b="1" dirty="0" smtClean="0">
                <a:latin typeface="Times New Roman" panose="02020603050405020304" pitchFamily="18" charset="0"/>
                <a:cs typeface="Times New Roman" panose="02020603050405020304" pitchFamily="18" charset="0"/>
              </a:rPr>
              <a:t>Git &amp; GitHub:</a:t>
            </a:r>
            <a:r>
              <a:rPr lang="en-IN" sz="1200" dirty="0" smtClean="0">
                <a:latin typeface="Times New Roman" panose="02020603050405020304" pitchFamily="18" charset="0"/>
                <a:cs typeface="Times New Roman" panose="02020603050405020304" pitchFamily="18" charset="0"/>
              </a:rPr>
              <a:t/>
            </a:r>
            <a:br>
              <a:rPr lang="en-IN" sz="1200" dirty="0" smtClean="0">
                <a:latin typeface="Times New Roman" panose="02020603050405020304" pitchFamily="18" charset="0"/>
                <a:cs typeface="Times New Roman" panose="02020603050405020304" pitchFamily="18" charset="0"/>
              </a:rPr>
            </a:br>
            <a:r>
              <a:rPr lang="en-IN" sz="1200" dirty="0" smtClean="0">
                <a:latin typeface="Times New Roman" panose="02020603050405020304" pitchFamily="18" charset="0"/>
                <a:cs typeface="Times New Roman" panose="02020603050405020304" pitchFamily="18" charset="0"/>
              </a:rPr>
              <a:t>Used for version control and project management. </a:t>
            </a:r>
          </a:p>
          <a:p>
            <a:r>
              <a:rPr lang="en-IN" sz="1200" b="1" dirty="0" smtClean="0">
                <a:latin typeface="Times New Roman" panose="02020603050405020304" pitchFamily="18" charset="0"/>
                <a:cs typeface="Times New Roman" panose="02020603050405020304" pitchFamily="18" charset="0"/>
              </a:rPr>
              <a:t>Web Technologies</a:t>
            </a:r>
          </a:p>
          <a:p>
            <a:r>
              <a:rPr lang="en-IN" sz="1200" b="1" dirty="0" smtClean="0">
                <a:latin typeface="Times New Roman" panose="02020603050405020304" pitchFamily="18" charset="0"/>
                <a:cs typeface="Times New Roman" panose="02020603050405020304" pitchFamily="18" charset="0"/>
              </a:rPr>
              <a:t>HTTP/HTTPS Protocol:</a:t>
            </a:r>
            <a:r>
              <a:rPr lang="en-IN" sz="1200" dirty="0" smtClean="0">
                <a:latin typeface="Times New Roman" panose="02020603050405020304" pitchFamily="18" charset="0"/>
                <a:cs typeface="Times New Roman" panose="02020603050405020304" pitchFamily="18" charset="0"/>
              </a:rPr>
              <a:t/>
            </a:r>
            <a:br>
              <a:rPr lang="en-IN" sz="1200" dirty="0" smtClean="0">
                <a:latin typeface="Times New Roman" panose="02020603050405020304" pitchFamily="18" charset="0"/>
                <a:cs typeface="Times New Roman" panose="02020603050405020304" pitchFamily="18" charset="0"/>
              </a:rPr>
            </a:br>
            <a:r>
              <a:rPr lang="en-IN" sz="1200" dirty="0" smtClean="0">
                <a:latin typeface="Times New Roman" panose="02020603050405020304" pitchFamily="18" charset="0"/>
                <a:cs typeface="Times New Roman" panose="02020603050405020304" pitchFamily="18" charset="0"/>
              </a:rPr>
              <a:t>Used for communication between client and server. </a:t>
            </a:r>
          </a:p>
          <a:p>
            <a:r>
              <a:rPr lang="en-IN" sz="1200" b="1" dirty="0" smtClean="0">
                <a:latin typeface="Times New Roman" panose="02020603050405020304" pitchFamily="18" charset="0"/>
                <a:cs typeface="Times New Roman" panose="02020603050405020304" pitchFamily="18" charset="0"/>
              </a:rPr>
              <a:t>Browser:</a:t>
            </a:r>
            <a:r>
              <a:rPr lang="en-IN" sz="1200" dirty="0" smtClean="0">
                <a:latin typeface="Times New Roman" panose="02020603050405020304" pitchFamily="18" charset="0"/>
                <a:cs typeface="Times New Roman" panose="02020603050405020304" pitchFamily="18" charset="0"/>
              </a:rPr>
              <a:t/>
            </a:r>
            <a:br>
              <a:rPr lang="en-IN" sz="1200" dirty="0" smtClean="0">
                <a:latin typeface="Times New Roman" panose="02020603050405020304" pitchFamily="18" charset="0"/>
                <a:cs typeface="Times New Roman" panose="02020603050405020304" pitchFamily="18" charset="0"/>
              </a:rPr>
            </a:br>
            <a:r>
              <a:rPr lang="en-IN" sz="1200" dirty="0" smtClean="0">
                <a:latin typeface="Times New Roman" panose="02020603050405020304" pitchFamily="18" charset="0"/>
                <a:cs typeface="Times New Roman" panose="02020603050405020304" pitchFamily="18" charset="0"/>
              </a:rPr>
              <a:t>Used to run and access the application.</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85800" y="1295400"/>
            <a:ext cx="10820400" cy="2954655"/>
          </a:xfrm>
          <a:prstGeom prst="rect">
            <a:avLst/>
          </a:prstGeom>
        </p:spPr>
        <p:txBody>
          <a:bodyPr wrap="square">
            <a:spAutoFit/>
          </a:bodyPr>
          <a:lstStyle/>
          <a:p>
            <a:r>
              <a:rPr lang="en-US" sz="1400" b="1" dirty="0" smtClean="0">
                <a:latin typeface="Times New Roman" panose="02020603050405020304" pitchFamily="18" charset="0"/>
                <a:cs typeface="Times New Roman" panose="02020603050405020304" pitchFamily="18" charset="0"/>
              </a:rPr>
              <a:t>Tools Used –</a:t>
            </a:r>
          </a:p>
          <a:p>
            <a:r>
              <a:rPr lang="en-US" sz="1200" b="1" dirty="0" smtClean="0">
                <a:latin typeface="Times New Roman" panose="02020603050405020304" pitchFamily="18" charset="0"/>
                <a:cs typeface="Times New Roman" panose="02020603050405020304" pitchFamily="18" charset="0"/>
              </a:rPr>
              <a:t>Visual Studio Code (VS Code):</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Used as the main code editor for writing and managing frontend and backend code. </a:t>
            </a:r>
          </a:p>
          <a:p>
            <a:pPr>
              <a:buFont typeface="Arial" panose="020B0604020202020204" pitchFamily="34" charset="0"/>
              <a:buChar char="•"/>
            </a:pPr>
            <a:r>
              <a:rPr lang="en-US" sz="1200" b="1" dirty="0" smtClean="0">
                <a:latin typeface="Times New Roman" panose="02020603050405020304" pitchFamily="18" charset="0"/>
                <a:cs typeface="Times New Roman" panose="02020603050405020304" pitchFamily="18" charset="0"/>
              </a:rPr>
              <a:t>Google Chrome (Web Browser):</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Used to run, test, and debug the application. </a:t>
            </a:r>
          </a:p>
          <a:p>
            <a:pPr>
              <a:buFont typeface="Arial" panose="020B0604020202020204" pitchFamily="34" charset="0"/>
              <a:buChar char="•"/>
            </a:pPr>
            <a:r>
              <a:rPr lang="en-US" sz="1200" b="1" dirty="0" err="1" smtClean="0">
                <a:latin typeface="Times New Roman" panose="02020603050405020304" pitchFamily="18" charset="0"/>
                <a:cs typeface="Times New Roman" panose="02020603050405020304" pitchFamily="18" charset="0"/>
              </a:rPr>
              <a:t>Git</a:t>
            </a:r>
            <a:r>
              <a:rPr lang="en-US" sz="1200" b="1" dirty="0" smtClean="0">
                <a:latin typeface="Times New Roman" panose="02020603050405020304" pitchFamily="18" charset="0"/>
                <a:cs typeface="Times New Roman" panose="02020603050405020304" pitchFamily="18" charset="0"/>
              </a:rPr>
              <a:t>:</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Used for version control to track changes in the project. </a:t>
            </a:r>
          </a:p>
          <a:p>
            <a:pPr>
              <a:buFont typeface="Arial" panose="020B0604020202020204" pitchFamily="34" charset="0"/>
              <a:buChar char="•"/>
            </a:pPr>
            <a:r>
              <a:rPr lang="en-US" sz="1200" b="1" dirty="0" smtClean="0">
                <a:latin typeface="Times New Roman" panose="02020603050405020304" pitchFamily="18" charset="0"/>
                <a:cs typeface="Times New Roman" panose="02020603050405020304" pitchFamily="18" charset="0"/>
              </a:rPr>
              <a:t>GitHub:</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Used to store and manage the project repository online. </a:t>
            </a:r>
          </a:p>
          <a:p>
            <a:pPr>
              <a:buFont typeface="Arial" panose="020B0604020202020204" pitchFamily="34" charset="0"/>
              <a:buChar char="•"/>
            </a:pPr>
            <a:r>
              <a:rPr lang="en-US" sz="1200" b="1" dirty="0" smtClean="0">
                <a:latin typeface="Times New Roman" panose="02020603050405020304" pitchFamily="18" charset="0"/>
                <a:cs typeface="Times New Roman" panose="02020603050405020304" pitchFamily="18" charset="0"/>
              </a:rPr>
              <a:t>XAMPP / WAMP:</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Used to create a local server environment for running backend applications (especially for PHP &amp; MySQL). </a:t>
            </a:r>
          </a:p>
          <a:p>
            <a:pPr>
              <a:buFont typeface="Arial" panose="020B0604020202020204" pitchFamily="34" charset="0"/>
              <a:buChar char="•"/>
            </a:pPr>
            <a:r>
              <a:rPr lang="en-US" sz="1200" b="1" dirty="0" smtClean="0">
                <a:latin typeface="Times New Roman" panose="02020603050405020304" pitchFamily="18" charset="0"/>
                <a:cs typeface="Times New Roman" panose="02020603050405020304" pitchFamily="18" charset="0"/>
              </a:rPr>
              <a:t>MySQL Workbench / </a:t>
            </a:r>
            <a:r>
              <a:rPr lang="en-US" sz="1200" b="1" dirty="0" err="1" smtClean="0">
                <a:latin typeface="Times New Roman" panose="02020603050405020304" pitchFamily="18" charset="0"/>
                <a:cs typeface="Times New Roman" panose="02020603050405020304" pitchFamily="18" charset="0"/>
              </a:rPr>
              <a:t>phpMyAdmin</a:t>
            </a:r>
            <a:r>
              <a:rPr lang="en-US" sz="1200" b="1" dirty="0" smtClean="0">
                <a:latin typeface="Times New Roman" panose="02020603050405020304" pitchFamily="18" charset="0"/>
                <a:cs typeface="Times New Roman" panose="02020603050405020304" pitchFamily="18" charset="0"/>
              </a:rPr>
              <a:t>:</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Used for designing and managing the database. </a:t>
            </a:r>
          </a:p>
          <a:p>
            <a:pPr>
              <a:buFont typeface="Arial" panose="020B0604020202020204" pitchFamily="34" charset="0"/>
              <a:buChar char="•"/>
            </a:pPr>
            <a:r>
              <a:rPr lang="en-US" sz="1200" b="1" dirty="0" smtClean="0">
                <a:latin typeface="Times New Roman" panose="02020603050405020304" pitchFamily="18" charset="0"/>
                <a:cs typeface="Times New Roman" panose="02020603050405020304" pitchFamily="18" charset="0"/>
              </a:rPr>
              <a:t>Postman (Optional):</a:t>
            </a:r>
            <a:r>
              <a:rPr lang="en-US" sz="1200" dirty="0" smtClean="0">
                <a:latin typeface="Times New Roman" panose="02020603050405020304" pitchFamily="18" charset="0"/>
                <a:cs typeface="Times New Roman" panose="02020603050405020304" pitchFamily="18" charset="0"/>
              </a:rPr>
              <a:t/>
            </a:r>
            <a:br>
              <a:rPr lang="en-US" sz="1200" dirty="0" smtClean="0">
                <a:latin typeface="Times New Roman" panose="02020603050405020304" pitchFamily="18" charset="0"/>
                <a:cs typeface="Times New Roman" panose="02020603050405020304" pitchFamily="18" charset="0"/>
              </a:rPr>
            </a:br>
            <a:r>
              <a:rPr lang="en-US" sz="1200" dirty="0" smtClean="0">
                <a:latin typeface="Times New Roman" panose="02020603050405020304" pitchFamily="18" charset="0"/>
                <a:cs typeface="Times New Roman" panose="02020603050405020304" pitchFamily="18" charset="0"/>
              </a:rPr>
              <a:t>Used for testing APIs and backend services. </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0" y="1066800"/>
            <a:ext cx="6379668" cy="246221"/>
          </a:xfrm>
        </p:spPr>
        <p:txBody>
          <a:bodyPr/>
          <a:lstStyle/>
          <a:p>
            <a:r>
              <a:rPr lang="en-IN" sz="1600" dirty="0"/>
              <a:t>CHAPTER 4: DATABASE </a:t>
            </a:r>
            <a:r>
              <a:rPr lang="en-IN" sz="1600" dirty="0" smtClean="0"/>
              <a:t>DESIGN</a:t>
            </a:r>
            <a:endParaRPr lang="en-IN" dirty="0"/>
          </a:p>
        </p:txBody>
      </p:sp>
      <p:sp>
        <p:nvSpPr>
          <p:cNvPr id="3" name="Text Placeholder 2"/>
          <p:cNvSpPr>
            <a:spLocks noGrp="1"/>
          </p:cNvSpPr>
          <p:nvPr>
            <p:ph type="body" idx="1"/>
          </p:nvPr>
        </p:nvSpPr>
        <p:spPr>
          <a:xfrm>
            <a:off x="838200" y="1600200"/>
            <a:ext cx="10199369" cy="1877437"/>
          </a:xfrm>
        </p:spPr>
        <p:txBody>
          <a:bodyPr/>
          <a:lstStyle/>
          <a:p>
            <a:r>
              <a:rPr lang="en-US" sz="1400" b="1" dirty="0"/>
              <a:t>Database Overview</a:t>
            </a:r>
          </a:p>
          <a:p>
            <a:r>
              <a:rPr lang="en-US" sz="1200" dirty="0"/>
              <a:t>The database is a core component of the Online Quiz Application, responsible for storing, managing, and retrieving all the data required for the system. It maintains user details, quiz questions, and results in a well-structured format. A relational database like MySQL is used to organize the data into tables for better efficiency and reliability.</a:t>
            </a:r>
          </a:p>
          <a:p>
            <a:r>
              <a:rPr lang="en-US" sz="1200" dirty="0"/>
              <a:t>The system mainly consists of three tables: </a:t>
            </a:r>
            <a:r>
              <a:rPr lang="en-US" sz="1200" b="1" dirty="0"/>
              <a:t>Users</a:t>
            </a:r>
            <a:r>
              <a:rPr lang="en-US" sz="1200" dirty="0"/>
              <a:t>, </a:t>
            </a:r>
            <a:r>
              <a:rPr lang="en-US" sz="1200" b="1" dirty="0"/>
              <a:t>Questions</a:t>
            </a:r>
            <a:r>
              <a:rPr lang="en-US" sz="1200" dirty="0"/>
              <a:t>, and </a:t>
            </a:r>
            <a:r>
              <a:rPr lang="en-US" sz="1200" b="1" dirty="0"/>
              <a:t>Results</a:t>
            </a:r>
            <a:r>
              <a:rPr lang="en-US" sz="1200" dirty="0"/>
              <a:t>. The Users table stores information such as user name, email, password, and role (admin/user). The Questions table contains quiz questions along with multiple-choice options and the correct answer. The Results table stores the scores obtained by users, total questions, and the date of the quiz.</a:t>
            </a:r>
          </a:p>
          <a:p>
            <a:r>
              <a:rPr lang="en-US" sz="1200" dirty="0"/>
              <a:t>These tables are connected using primary keys and foreign keys to maintain relationships and ensure data consistency. The database supports smooth data flow, where user data is stored during registration, questions are retrieved during the quiz, and results are saved after completion.</a:t>
            </a:r>
          </a:p>
          <a:p>
            <a:r>
              <a:rPr lang="en-US" sz="1200" dirty="0"/>
              <a:t>Overall, the database ensures secure data storage, fast retrieval, reduced redundancy, and efficient management of the entire quiz system.</a:t>
            </a:r>
          </a:p>
        </p:txBody>
      </p:sp>
    </p:spTree>
    <p:extLst>
      <p:ext uri="{BB962C8B-B14F-4D97-AF65-F5344CB8AC3E}">
        <p14:creationId xmlns:p14="http://schemas.microsoft.com/office/powerpoint/2010/main" val="29558677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332" y="1005332"/>
            <a:ext cx="3226130" cy="307777"/>
          </a:xfrm>
        </p:spPr>
        <p:txBody>
          <a:bodyPr/>
          <a:lstStyle/>
          <a:p>
            <a:r>
              <a:rPr lang="en-IN" sz="2000" dirty="0" smtClean="0"/>
              <a:t>Tables In Database:</a:t>
            </a:r>
            <a:endParaRPr lang="en-IN" sz="2000" dirty="0"/>
          </a:p>
        </p:txBody>
      </p:sp>
      <p:sp>
        <p:nvSpPr>
          <p:cNvPr id="3" name="Content Placeholder 2"/>
          <p:cNvSpPr>
            <a:spLocks noGrp="1"/>
          </p:cNvSpPr>
          <p:nvPr>
            <p:ph sz="half" idx="2"/>
          </p:nvPr>
        </p:nvSpPr>
        <p:spPr>
          <a:xfrm>
            <a:off x="864116" y="1447800"/>
            <a:ext cx="10642084" cy="553998"/>
          </a:xfrm>
        </p:spPr>
        <p:txBody>
          <a:bodyPr/>
          <a:lstStyle/>
          <a:p>
            <a:r>
              <a:rPr lang="en-IN" sz="1400" b="1" dirty="0" smtClean="0"/>
              <a:t>User Table</a:t>
            </a:r>
            <a:r>
              <a:rPr lang="en-IN" dirty="0" smtClean="0"/>
              <a:t>:</a:t>
            </a:r>
          </a:p>
          <a:p>
            <a:endParaRPr lang="en-IN" dirty="0"/>
          </a:p>
        </p:txBody>
      </p:sp>
      <p:pic>
        <p:nvPicPr>
          <p:cNvPr id="5" name="Content Placeholder 4"/>
          <p:cNvPicPr>
            <a:picLocks noGrp="1" noChangeAspect="1"/>
          </p:cNvPicPr>
          <p:nvPr>
            <p:ph sz="half" idx="3"/>
          </p:nvPr>
        </p:nvPicPr>
        <p:blipFill>
          <a:blip r:embed="rId2">
            <a:extLst>
              <a:ext uri="{28A0092B-C50C-407E-A947-70E740481C1C}">
                <a14:useLocalDpi xmlns:a14="http://schemas.microsoft.com/office/drawing/2010/main" val="0"/>
              </a:ext>
            </a:extLst>
          </a:blip>
          <a:stretch>
            <a:fillRect/>
          </a:stretch>
        </p:blipFill>
        <p:spPr>
          <a:xfrm>
            <a:off x="457200" y="1967299"/>
            <a:ext cx="10104437" cy="3914001"/>
          </a:xfrm>
        </p:spPr>
      </p:pic>
    </p:spTree>
    <p:extLst>
      <p:ext uri="{BB962C8B-B14F-4D97-AF65-F5344CB8AC3E}">
        <p14:creationId xmlns:p14="http://schemas.microsoft.com/office/powerpoint/2010/main" val="3718066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59245" y="1671076"/>
            <a:ext cx="10199369" cy="492443"/>
          </a:xfrm>
        </p:spPr>
        <p:txBody>
          <a:bodyPr/>
          <a:lstStyle/>
          <a:p>
            <a:r>
              <a:rPr lang="en-IN" sz="1400" b="1" dirty="0" smtClean="0"/>
              <a:t>Questions Table:</a:t>
            </a:r>
          </a:p>
          <a:p>
            <a:endParaRPr lang="en-IN" dirty="0" smtClean="0"/>
          </a:p>
        </p:txBody>
      </p:sp>
      <p:graphicFrame>
        <p:nvGraphicFramePr>
          <p:cNvPr id="4" name="Table 3"/>
          <p:cNvGraphicFramePr>
            <a:graphicFrameLocks noGrp="1"/>
          </p:cNvGraphicFramePr>
          <p:nvPr>
            <p:extLst>
              <p:ext uri="{D42A27DB-BD31-4B8C-83A1-F6EECF244321}">
                <p14:modId xmlns:p14="http://schemas.microsoft.com/office/powerpoint/2010/main" val="3846252983"/>
              </p:ext>
            </p:extLst>
          </p:nvPr>
        </p:nvGraphicFramePr>
        <p:xfrm>
          <a:off x="959245" y="2091378"/>
          <a:ext cx="10075275" cy="2917264"/>
        </p:xfrm>
        <a:graphic>
          <a:graphicData uri="http://schemas.openxmlformats.org/drawingml/2006/table">
            <a:tbl>
              <a:tblPr/>
              <a:tblGrid>
                <a:gridCol w="3358425">
                  <a:extLst>
                    <a:ext uri="{9D8B030D-6E8A-4147-A177-3AD203B41FA5}">
                      <a16:colId xmlns:a16="http://schemas.microsoft.com/office/drawing/2014/main" val="2794175006"/>
                    </a:ext>
                  </a:extLst>
                </a:gridCol>
                <a:gridCol w="3358425">
                  <a:extLst>
                    <a:ext uri="{9D8B030D-6E8A-4147-A177-3AD203B41FA5}">
                      <a16:colId xmlns:a16="http://schemas.microsoft.com/office/drawing/2014/main" val="1103251902"/>
                    </a:ext>
                  </a:extLst>
                </a:gridCol>
                <a:gridCol w="3358425">
                  <a:extLst>
                    <a:ext uri="{9D8B030D-6E8A-4147-A177-3AD203B41FA5}">
                      <a16:colId xmlns:a16="http://schemas.microsoft.com/office/drawing/2014/main" val="2151969740"/>
                    </a:ext>
                  </a:extLst>
                </a:gridCol>
              </a:tblGrid>
              <a:tr h="293725">
                <a:tc>
                  <a:txBody>
                    <a:bodyPr/>
                    <a:lstStyle/>
                    <a:p>
                      <a:endParaRPr lang="en-IN" sz="1800" b="1" dirty="0"/>
                    </a:p>
                  </a:txBody>
                  <a:tcPr marL="90339" marR="90339" marT="45169" marB="45169" anchor="ctr">
                    <a:lnL>
                      <a:noFill/>
                    </a:lnL>
                    <a:lnR>
                      <a:noFill/>
                    </a:lnR>
                    <a:lnT>
                      <a:noFill/>
                    </a:lnT>
                    <a:lnB>
                      <a:noFill/>
                    </a:lnB>
                  </a:tcPr>
                </a:tc>
                <a:tc>
                  <a:txBody>
                    <a:bodyPr/>
                    <a:lstStyle/>
                    <a:p>
                      <a:endParaRPr lang="en-IN" sz="1800" b="1" dirty="0"/>
                    </a:p>
                  </a:txBody>
                  <a:tcPr marL="90339" marR="90339" marT="45169" marB="45169" anchor="ctr">
                    <a:lnL>
                      <a:noFill/>
                    </a:lnL>
                    <a:lnR>
                      <a:noFill/>
                    </a:lnR>
                    <a:lnT>
                      <a:noFill/>
                    </a:lnT>
                    <a:lnB>
                      <a:noFill/>
                    </a:lnB>
                  </a:tcPr>
                </a:tc>
                <a:tc>
                  <a:txBody>
                    <a:bodyPr/>
                    <a:lstStyle/>
                    <a:p>
                      <a:endParaRPr lang="en-IN" sz="1800" b="1" dirty="0"/>
                    </a:p>
                  </a:txBody>
                  <a:tcPr marL="90339" marR="90339" marT="45169" marB="45169" anchor="ctr">
                    <a:lnL>
                      <a:noFill/>
                    </a:lnL>
                    <a:lnR>
                      <a:noFill/>
                    </a:lnR>
                    <a:lnT>
                      <a:noFill/>
                    </a:lnT>
                    <a:lnB>
                      <a:noFill/>
                    </a:lnB>
                  </a:tcPr>
                </a:tc>
                <a:extLst>
                  <a:ext uri="{0D108BD9-81ED-4DB2-BD59-A6C34878D82A}">
                    <a16:rowId xmlns:a16="http://schemas.microsoft.com/office/drawing/2014/main" val="688162842"/>
                  </a:ext>
                </a:extLst>
              </a:tr>
              <a:tr h="293725">
                <a:tc>
                  <a:txBody>
                    <a:bodyPr/>
                    <a:lstStyle/>
                    <a:p>
                      <a:endParaRPr lang="en-IN" sz="1800" dirty="0"/>
                    </a:p>
                  </a:txBody>
                  <a:tcPr marL="90339" marR="90339" marT="45169" marB="45169" anchor="ctr">
                    <a:lnL>
                      <a:noFill/>
                    </a:lnL>
                    <a:lnR>
                      <a:noFill/>
                    </a:lnR>
                    <a:lnT>
                      <a:noFill/>
                    </a:lnT>
                    <a:lnB>
                      <a:noFill/>
                    </a:lnB>
                  </a:tcPr>
                </a:tc>
                <a:tc>
                  <a:txBody>
                    <a:bodyPr/>
                    <a:lstStyle/>
                    <a:p>
                      <a:endParaRPr lang="en-IN" sz="1800"/>
                    </a:p>
                  </a:txBody>
                  <a:tcPr marL="90339" marR="90339" marT="45169" marB="45169" anchor="ctr">
                    <a:lnL>
                      <a:noFill/>
                    </a:lnL>
                    <a:lnR>
                      <a:noFill/>
                    </a:lnR>
                    <a:lnT>
                      <a:noFill/>
                    </a:lnT>
                    <a:lnB>
                      <a:noFill/>
                    </a:lnB>
                  </a:tcPr>
                </a:tc>
                <a:tc>
                  <a:txBody>
                    <a:bodyPr/>
                    <a:lstStyle/>
                    <a:p>
                      <a:endParaRPr lang="en-IN" sz="1800" dirty="0"/>
                    </a:p>
                  </a:txBody>
                  <a:tcPr marL="90339" marR="90339" marT="45169" marB="45169" anchor="ctr">
                    <a:lnL>
                      <a:noFill/>
                    </a:lnL>
                    <a:lnR>
                      <a:noFill/>
                    </a:lnR>
                    <a:lnT>
                      <a:noFill/>
                    </a:lnT>
                    <a:lnB>
                      <a:noFill/>
                    </a:lnB>
                  </a:tcPr>
                </a:tc>
                <a:extLst>
                  <a:ext uri="{0D108BD9-81ED-4DB2-BD59-A6C34878D82A}">
                    <a16:rowId xmlns:a16="http://schemas.microsoft.com/office/drawing/2014/main" val="2463460585"/>
                  </a:ext>
                </a:extLst>
              </a:tr>
              <a:tr h="293725">
                <a:tc>
                  <a:txBody>
                    <a:bodyPr/>
                    <a:lstStyle/>
                    <a:p>
                      <a:endParaRPr lang="en-IN" sz="1800" dirty="0"/>
                    </a:p>
                  </a:txBody>
                  <a:tcPr marL="90339" marR="90339" marT="45169" marB="45169" anchor="ctr">
                    <a:lnL>
                      <a:noFill/>
                    </a:lnL>
                    <a:lnR>
                      <a:noFill/>
                    </a:lnR>
                    <a:lnT>
                      <a:noFill/>
                    </a:lnT>
                    <a:lnB>
                      <a:noFill/>
                    </a:lnB>
                  </a:tcPr>
                </a:tc>
                <a:tc>
                  <a:txBody>
                    <a:bodyPr/>
                    <a:lstStyle/>
                    <a:p>
                      <a:endParaRPr lang="en-IN" sz="1800" dirty="0"/>
                    </a:p>
                  </a:txBody>
                  <a:tcPr marL="90339" marR="90339" marT="45169" marB="45169" anchor="ctr">
                    <a:lnL>
                      <a:noFill/>
                    </a:lnL>
                    <a:lnR>
                      <a:noFill/>
                    </a:lnR>
                    <a:lnT>
                      <a:noFill/>
                    </a:lnT>
                    <a:lnB>
                      <a:noFill/>
                    </a:lnB>
                  </a:tcPr>
                </a:tc>
                <a:tc>
                  <a:txBody>
                    <a:bodyPr/>
                    <a:lstStyle/>
                    <a:p>
                      <a:endParaRPr lang="en-IN" sz="1800"/>
                    </a:p>
                  </a:txBody>
                  <a:tcPr marL="90339" marR="90339" marT="45169" marB="45169" anchor="ctr">
                    <a:lnL>
                      <a:noFill/>
                    </a:lnL>
                    <a:lnR>
                      <a:noFill/>
                    </a:lnR>
                    <a:lnT>
                      <a:noFill/>
                    </a:lnT>
                    <a:lnB>
                      <a:noFill/>
                    </a:lnB>
                  </a:tcPr>
                </a:tc>
                <a:extLst>
                  <a:ext uri="{0D108BD9-81ED-4DB2-BD59-A6C34878D82A}">
                    <a16:rowId xmlns:a16="http://schemas.microsoft.com/office/drawing/2014/main" val="2060227703"/>
                  </a:ext>
                </a:extLst>
              </a:tr>
              <a:tr h="293725">
                <a:tc>
                  <a:txBody>
                    <a:bodyPr/>
                    <a:lstStyle/>
                    <a:p>
                      <a:endParaRPr lang="en-IN" sz="1800" dirty="0"/>
                    </a:p>
                  </a:txBody>
                  <a:tcPr marL="90339" marR="90339" marT="45169" marB="45169" anchor="ctr">
                    <a:lnL>
                      <a:noFill/>
                    </a:lnL>
                    <a:lnR>
                      <a:noFill/>
                    </a:lnR>
                    <a:lnT>
                      <a:noFill/>
                    </a:lnT>
                    <a:lnB>
                      <a:noFill/>
                    </a:lnB>
                  </a:tcPr>
                </a:tc>
                <a:tc>
                  <a:txBody>
                    <a:bodyPr/>
                    <a:lstStyle/>
                    <a:p>
                      <a:endParaRPr lang="en-IN" sz="1800"/>
                    </a:p>
                  </a:txBody>
                  <a:tcPr marL="90339" marR="90339" marT="45169" marB="45169" anchor="ctr">
                    <a:lnL>
                      <a:noFill/>
                    </a:lnL>
                    <a:lnR>
                      <a:noFill/>
                    </a:lnR>
                    <a:lnT>
                      <a:noFill/>
                    </a:lnT>
                    <a:lnB>
                      <a:noFill/>
                    </a:lnB>
                  </a:tcPr>
                </a:tc>
                <a:tc>
                  <a:txBody>
                    <a:bodyPr/>
                    <a:lstStyle/>
                    <a:p>
                      <a:endParaRPr lang="en-IN" sz="1800"/>
                    </a:p>
                  </a:txBody>
                  <a:tcPr marL="90339" marR="90339" marT="45169" marB="45169" anchor="ctr">
                    <a:lnL>
                      <a:noFill/>
                    </a:lnL>
                    <a:lnR>
                      <a:noFill/>
                    </a:lnR>
                    <a:lnT>
                      <a:noFill/>
                    </a:lnT>
                    <a:lnB>
                      <a:noFill/>
                    </a:lnB>
                  </a:tcPr>
                </a:tc>
                <a:extLst>
                  <a:ext uri="{0D108BD9-81ED-4DB2-BD59-A6C34878D82A}">
                    <a16:rowId xmlns:a16="http://schemas.microsoft.com/office/drawing/2014/main" val="1443129513"/>
                  </a:ext>
                </a:extLst>
              </a:tr>
              <a:tr h="293725">
                <a:tc>
                  <a:txBody>
                    <a:bodyPr/>
                    <a:lstStyle/>
                    <a:p>
                      <a:endParaRPr lang="en-IN" sz="1800"/>
                    </a:p>
                  </a:txBody>
                  <a:tcPr marL="90339" marR="90339" marT="45169" marB="45169" anchor="ctr">
                    <a:lnL>
                      <a:noFill/>
                    </a:lnL>
                    <a:lnR>
                      <a:noFill/>
                    </a:lnR>
                    <a:lnT>
                      <a:noFill/>
                    </a:lnT>
                    <a:lnB>
                      <a:noFill/>
                    </a:lnB>
                  </a:tcPr>
                </a:tc>
                <a:tc>
                  <a:txBody>
                    <a:bodyPr/>
                    <a:lstStyle/>
                    <a:p>
                      <a:endParaRPr lang="en-IN" sz="1800" dirty="0"/>
                    </a:p>
                  </a:txBody>
                  <a:tcPr marL="90339" marR="90339" marT="45169" marB="45169" anchor="ctr">
                    <a:lnL>
                      <a:noFill/>
                    </a:lnL>
                    <a:lnR>
                      <a:noFill/>
                    </a:lnR>
                    <a:lnT>
                      <a:noFill/>
                    </a:lnT>
                    <a:lnB>
                      <a:noFill/>
                    </a:lnB>
                  </a:tcPr>
                </a:tc>
                <a:tc>
                  <a:txBody>
                    <a:bodyPr/>
                    <a:lstStyle/>
                    <a:p>
                      <a:endParaRPr lang="en-IN" sz="1800"/>
                    </a:p>
                  </a:txBody>
                  <a:tcPr marL="90339" marR="90339" marT="45169" marB="45169" anchor="ctr">
                    <a:lnL>
                      <a:noFill/>
                    </a:lnL>
                    <a:lnR>
                      <a:noFill/>
                    </a:lnR>
                    <a:lnT>
                      <a:noFill/>
                    </a:lnT>
                    <a:lnB>
                      <a:noFill/>
                    </a:lnB>
                  </a:tcPr>
                </a:tc>
                <a:extLst>
                  <a:ext uri="{0D108BD9-81ED-4DB2-BD59-A6C34878D82A}">
                    <a16:rowId xmlns:a16="http://schemas.microsoft.com/office/drawing/2014/main" val="3845951932"/>
                  </a:ext>
                </a:extLst>
              </a:tr>
              <a:tr h="293725">
                <a:tc>
                  <a:txBody>
                    <a:bodyPr/>
                    <a:lstStyle/>
                    <a:p>
                      <a:endParaRPr lang="en-IN" sz="1800"/>
                    </a:p>
                  </a:txBody>
                  <a:tcPr marL="90339" marR="90339" marT="45169" marB="45169" anchor="ctr">
                    <a:lnL>
                      <a:noFill/>
                    </a:lnL>
                    <a:lnR>
                      <a:noFill/>
                    </a:lnR>
                    <a:lnT>
                      <a:noFill/>
                    </a:lnT>
                    <a:lnB>
                      <a:noFill/>
                    </a:lnB>
                  </a:tcPr>
                </a:tc>
                <a:tc>
                  <a:txBody>
                    <a:bodyPr/>
                    <a:lstStyle/>
                    <a:p>
                      <a:endParaRPr lang="en-IN" sz="1800" dirty="0"/>
                    </a:p>
                  </a:txBody>
                  <a:tcPr marL="90339" marR="90339" marT="45169" marB="45169" anchor="ctr">
                    <a:lnL>
                      <a:noFill/>
                    </a:lnL>
                    <a:lnR>
                      <a:noFill/>
                    </a:lnR>
                    <a:lnT>
                      <a:noFill/>
                    </a:lnT>
                    <a:lnB>
                      <a:noFill/>
                    </a:lnB>
                  </a:tcPr>
                </a:tc>
                <a:tc>
                  <a:txBody>
                    <a:bodyPr/>
                    <a:lstStyle/>
                    <a:p>
                      <a:endParaRPr lang="en-IN" sz="1800"/>
                    </a:p>
                  </a:txBody>
                  <a:tcPr marL="90339" marR="90339" marT="45169" marB="45169" anchor="ctr">
                    <a:lnL>
                      <a:noFill/>
                    </a:lnL>
                    <a:lnR>
                      <a:noFill/>
                    </a:lnR>
                    <a:lnT>
                      <a:noFill/>
                    </a:lnT>
                    <a:lnB>
                      <a:noFill/>
                    </a:lnB>
                  </a:tcPr>
                </a:tc>
                <a:extLst>
                  <a:ext uri="{0D108BD9-81ED-4DB2-BD59-A6C34878D82A}">
                    <a16:rowId xmlns:a16="http://schemas.microsoft.com/office/drawing/2014/main" val="3870659361"/>
                  </a:ext>
                </a:extLst>
              </a:tr>
              <a:tr h="293725">
                <a:tc>
                  <a:txBody>
                    <a:bodyPr/>
                    <a:lstStyle/>
                    <a:p>
                      <a:endParaRPr lang="en-IN" sz="1800"/>
                    </a:p>
                  </a:txBody>
                  <a:tcPr marL="90339" marR="90339" marT="45169" marB="45169" anchor="ctr">
                    <a:lnL>
                      <a:noFill/>
                    </a:lnL>
                    <a:lnR>
                      <a:noFill/>
                    </a:lnR>
                    <a:lnT>
                      <a:noFill/>
                    </a:lnT>
                    <a:lnB>
                      <a:noFill/>
                    </a:lnB>
                  </a:tcPr>
                </a:tc>
                <a:tc>
                  <a:txBody>
                    <a:bodyPr/>
                    <a:lstStyle/>
                    <a:p>
                      <a:endParaRPr lang="en-IN" sz="1800" dirty="0"/>
                    </a:p>
                  </a:txBody>
                  <a:tcPr marL="90339" marR="90339" marT="45169" marB="45169" anchor="ctr">
                    <a:lnL>
                      <a:noFill/>
                    </a:lnL>
                    <a:lnR>
                      <a:noFill/>
                    </a:lnR>
                    <a:lnT>
                      <a:noFill/>
                    </a:lnT>
                    <a:lnB>
                      <a:noFill/>
                    </a:lnB>
                  </a:tcPr>
                </a:tc>
                <a:tc>
                  <a:txBody>
                    <a:bodyPr/>
                    <a:lstStyle/>
                    <a:p>
                      <a:endParaRPr lang="en-IN" sz="1800"/>
                    </a:p>
                  </a:txBody>
                  <a:tcPr marL="90339" marR="90339" marT="45169" marB="45169" anchor="ctr">
                    <a:lnL>
                      <a:noFill/>
                    </a:lnL>
                    <a:lnR>
                      <a:noFill/>
                    </a:lnR>
                    <a:lnT>
                      <a:noFill/>
                    </a:lnT>
                    <a:lnB>
                      <a:noFill/>
                    </a:lnB>
                  </a:tcPr>
                </a:tc>
                <a:extLst>
                  <a:ext uri="{0D108BD9-81ED-4DB2-BD59-A6C34878D82A}">
                    <a16:rowId xmlns:a16="http://schemas.microsoft.com/office/drawing/2014/main" val="1520465820"/>
                  </a:ext>
                </a:extLst>
              </a:tr>
              <a:tr h="293725">
                <a:tc>
                  <a:txBody>
                    <a:bodyPr/>
                    <a:lstStyle/>
                    <a:p>
                      <a:endParaRPr lang="en-IN" sz="1800"/>
                    </a:p>
                  </a:txBody>
                  <a:tcPr marL="90339" marR="90339" marT="45169" marB="45169" anchor="ctr">
                    <a:lnL>
                      <a:noFill/>
                    </a:lnL>
                    <a:lnR>
                      <a:noFill/>
                    </a:lnR>
                    <a:lnT>
                      <a:noFill/>
                    </a:lnT>
                    <a:lnB>
                      <a:noFill/>
                    </a:lnB>
                  </a:tcPr>
                </a:tc>
                <a:tc>
                  <a:txBody>
                    <a:bodyPr/>
                    <a:lstStyle/>
                    <a:p>
                      <a:endParaRPr lang="en-IN" sz="1800" dirty="0"/>
                    </a:p>
                  </a:txBody>
                  <a:tcPr marL="90339" marR="90339" marT="45169" marB="45169" anchor="ctr">
                    <a:lnL>
                      <a:noFill/>
                    </a:lnL>
                    <a:lnR>
                      <a:noFill/>
                    </a:lnR>
                    <a:lnT>
                      <a:noFill/>
                    </a:lnT>
                    <a:lnB>
                      <a:noFill/>
                    </a:lnB>
                  </a:tcPr>
                </a:tc>
                <a:tc>
                  <a:txBody>
                    <a:bodyPr/>
                    <a:lstStyle/>
                    <a:p>
                      <a:endParaRPr lang="en-IN" sz="1800" dirty="0"/>
                    </a:p>
                  </a:txBody>
                  <a:tcPr marL="90339" marR="90339" marT="45169" marB="45169" anchor="ctr">
                    <a:lnL>
                      <a:noFill/>
                    </a:lnL>
                    <a:lnR>
                      <a:noFill/>
                    </a:lnR>
                    <a:lnT>
                      <a:noFill/>
                    </a:lnT>
                    <a:lnB>
                      <a:noFill/>
                    </a:lnB>
                  </a:tcPr>
                </a:tc>
                <a:extLst>
                  <a:ext uri="{0D108BD9-81ED-4DB2-BD59-A6C34878D82A}">
                    <a16:rowId xmlns:a16="http://schemas.microsoft.com/office/drawing/2014/main" val="950108856"/>
                  </a:ext>
                </a:extLst>
              </a:tr>
            </a:tbl>
          </a:graphicData>
        </a:graphic>
      </p:graphicFrame>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9244" y="2150115"/>
            <a:ext cx="8946755" cy="3641085"/>
          </a:xfrm>
          <a:prstGeom prst="rect">
            <a:avLst/>
          </a:prstGeom>
        </p:spPr>
      </p:pic>
    </p:spTree>
    <p:extLst>
      <p:ext uri="{BB962C8B-B14F-4D97-AF65-F5344CB8AC3E}">
        <p14:creationId xmlns:p14="http://schemas.microsoft.com/office/powerpoint/2010/main" val="3386426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82534" y="1676400"/>
            <a:ext cx="10199369" cy="430887"/>
          </a:xfrm>
        </p:spPr>
        <p:txBody>
          <a:bodyPr/>
          <a:lstStyle/>
          <a:p>
            <a:r>
              <a:rPr lang="en-IN" sz="1400" b="1" dirty="0" smtClean="0"/>
              <a:t>Result Table:</a:t>
            </a:r>
          </a:p>
          <a:p>
            <a:endParaRPr lang="en-IN" sz="1400" b="1" dirty="0"/>
          </a:p>
        </p:txBody>
      </p:sp>
      <p:graphicFrame>
        <p:nvGraphicFramePr>
          <p:cNvPr id="4" name="Table 3"/>
          <p:cNvGraphicFramePr>
            <a:graphicFrameLocks noGrp="1"/>
          </p:cNvGraphicFramePr>
          <p:nvPr>
            <p:extLst>
              <p:ext uri="{D42A27DB-BD31-4B8C-83A1-F6EECF244321}">
                <p14:modId xmlns:p14="http://schemas.microsoft.com/office/powerpoint/2010/main" val="1152797877"/>
              </p:ext>
            </p:extLst>
          </p:nvPr>
        </p:nvGraphicFramePr>
        <p:xfrm>
          <a:off x="996950" y="2129314"/>
          <a:ext cx="10198101" cy="2194560"/>
        </p:xfrm>
        <a:graphic>
          <a:graphicData uri="http://schemas.openxmlformats.org/drawingml/2006/table">
            <a:tbl>
              <a:tblPr/>
              <a:tblGrid>
                <a:gridCol w="3399367">
                  <a:extLst>
                    <a:ext uri="{9D8B030D-6E8A-4147-A177-3AD203B41FA5}">
                      <a16:colId xmlns:a16="http://schemas.microsoft.com/office/drawing/2014/main" val="1673643084"/>
                    </a:ext>
                  </a:extLst>
                </a:gridCol>
                <a:gridCol w="3399367">
                  <a:extLst>
                    <a:ext uri="{9D8B030D-6E8A-4147-A177-3AD203B41FA5}">
                      <a16:colId xmlns:a16="http://schemas.microsoft.com/office/drawing/2014/main" val="3278494433"/>
                    </a:ext>
                  </a:extLst>
                </a:gridCol>
                <a:gridCol w="3399367">
                  <a:extLst>
                    <a:ext uri="{9D8B030D-6E8A-4147-A177-3AD203B41FA5}">
                      <a16:colId xmlns:a16="http://schemas.microsoft.com/office/drawing/2014/main" val="1581521867"/>
                    </a:ext>
                  </a:extLst>
                </a:gridCol>
              </a:tblGrid>
              <a:tr h="365760">
                <a:tc>
                  <a:txBody>
                    <a:bodyPr/>
                    <a:lstStyle/>
                    <a:p>
                      <a:endParaRPr lang="en-IN" sz="1800" b="1" dirty="0"/>
                    </a:p>
                  </a:txBody>
                  <a:tcPr anchor="ctr">
                    <a:lnL>
                      <a:noFill/>
                    </a:lnL>
                    <a:lnR>
                      <a:noFill/>
                    </a:lnR>
                    <a:lnT>
                      <a:noFill/>
                    </a:lnT>
                    <a:lnB>
                      <a:noFill/>
                    </a:lnB>
                  </a:tcPr>
                </a:tc>
                <a:tc>
                  <a:txBody>
                    <a:bodyPr/>
                    <a:lstStyle/>
                    <a:p>
                      <a:endParaRPr lang="en-IN" sz="1800" b="1" dirty="0"/>
                    </a:p>
                  </a:txBody>
                  <a:tcPr anchor="ctr">
                    <a:lnL>
                      <a:noFill/>
                    </a:lnL>
                    <a:lnR>
                      <a:noFill/>
                    </a:lnR>
                    <a:lnT>
                      <a:noFill/>
                    </a:lnT>
                    <a:lnB>
                      <a:noFill/>
                    </a:lnB>
                  </a:tcPr>
                </a:tc>
                <a:tc>
                  <a:txBody>
                    <a:bodyPr/>
                    <a:lstStyle/>
                    <a:p>
                      <a:endParaRPr lang="en-IN" sz="1800" b="1" dirty="0"/>
                    </a:p>
                  </a:txBody>
                  <a:tcPr anchor="ctr">
                    <a:lnL>
                      <a:noFill/>
                    </a:lnL>
                    <a:lnR>
                      <a:noFill/>
                    </a:lnR>
                    <a:lnT>
                      <a:noFill/>
                    </a:lnT>
                    <a:lnB>
                      <a:noFill/>
                    </a:lnB>
                  </a:tcPr>
                </a:tc>
                <a:extLst>
                  <a:ext uri="{0D108BD9-81ED-4DB2-BD59-A6C34878D82A}">
                    <a16:rowId xmlns:a16="http://schemas.microsoft.com/office/drawing/2014/main" val="4257813290"/>
                  </a:ext>
                </a:extLst>
              </a:tr>
              <a:tr h="365760">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tc>
                  <a:txBody>
                    <a:bodyPr/>
                    <a:lstStyle/>
                    <a:p>
                      <a:endParaRPr lang="en-IN" sz="1800"/>
                    </a:p>
                  </a:txBody>
                  <a:tcPr anchor="ctr">
                    <a:lnL>
                      <a:noFill/>
                    </a:lnL>
                    <a:lnR>
                      <a:noFill/>
                    </a:lnR>
                    <a:lnT>
                      <a:noFill/>
                    </a:lnT>
                    <a:lnB>
                      <a:noFill/>
                    </a:lnB>
                  </a:tcPr>
                </a:tc>
                <a:extLst>
                  <a:ext uri="{0D108BD9-81ED-4DB2-BD59-A6C34878D82A}">
                    <a16:rowId xmlns:a16="http://schemas.microsoft.com/office/drawing/2014/main" val="398774735"/>
                  </a:ext>
                </a:extLst>
              </a:tr>
              <a:tr h="365760">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tc>
                  <a:txBody>
                    <a:bodyPr/>
                    <a:lstStyle/>
                    <a:p>
                      <a:endParaRPr lang="en-IN" sz="1800"/>
                    </a:p>
                  </a:txBody>
                  <a:tcPr anchor="ctr">
                    <a:lnL>
                      <a:noFill/>
                    </a:lnL>
                    <a:lnR>
                      <a:noFill/>
                    </a:lnR>
                    <a:lnT>
                      <a:noFill/>
                    </a:lnT>
                    <a:lnB>
                      <a:noFill/>
                    </a:lnB>
                  </a:tcPr>
                </a:tc>
                <a:extLst>
                  <a:ext uri="{0D108BD9-81ED-4DB2-BD59-A6C34878D82A}">
                    <a16:rowId xmlns:a16="http://schemas.microsoft.com/office/drawing/2014/main" val="4145089221"/>
                  </a:ext>
                </a:extLst>
              </a:tr>
              <a:tr h="365760">
                <a:tc>
                  <a:txBody>
                    <a:bodyPr/>
                    <a:lstStyle/>
                    <a:p>
                      <a:endParaRPr lang="en-IN" sz="180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tc>
                  <a:txBody>
                    <a:bodyPr/>
                    <a:lstStyle/>
                    <a:p>
                      <a:endParaRPr lang="en-IN" sz="1800"/>
                    </a:p>
                  </a:txBody>
                  <a:tcPr anchor="ctr">
                    <a:lnL>
                      <a:noFill/>
                    </a:lnL>
                    <a:lnR>
                      <a:noFill/>
                    </a:lnR>
                    <a:lnT>
                      <a:noFill/>
                    </a:lnT>
                    <a:lnB>
                      <a:noFill/>
                    </a:lnB>
                  </a:tcPr>
                </a:tc>
                <a:extLst>
                  <a:ext uri="{0D108BD9-81ED-4DB2-BD59-A6C34878D82A}">
                    <a16:rowId xmlns:a16="http://schemas.microsoft.com/office/drawing/2014/main" val="921039380"/>
                  </a:ext>
                </a:extLst>
              </a:tr>
              <a:tr h="365760">
                <a:tc>
                  <a:txBody>
                    <a:bodyPr/>
                    <a:lstStyle/>
                    <a:p>
                      <a:endParaRPr lang="en-IN" sz="180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tc>
                  <a:txBody>
                    <a:bodyPr/>
                    <a:lstStyle/>
                    <a:p>
                      <a:endParaRPr lang="en-IN" sz="1800"/>
                    </a:p>
                  </a:txBody>
                  <a:tcPr anchor="ctr">
                    <a:lnL>
                      <a:noFill/>
                    </a:lnL>
                    <a:lnR>
                      <a:noFill/>
                    </a:lnR>
                    <a:lnT>
                      <a:noFill/>
                    </a:lnT>
                    <a:lnB>
                      <a:noFill/>
                    </a:lnB>
                  </a:tcPr>
                </a:tc>
                <a:extLst>
                  <a:ext uri="{0D108BD9-81ED-4DB2-BD59-A6C34878D82A}">
                    <a16:rowId xmlns:a16="http://schemas.microsoft.com/office/drawing/2014/main" val="539156529"/>
                  </a:ext>
                </a:extLst>
              </a:tr>
              <a:tr h="365760">
                <a:tc>
                  <a:txBody>
                    <a:bodyPr/>
                    <a:lstStyle/>
                    <a:p>
                      <a:endParaRPr lang="en-IN" sz="180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tc>
                  <a:txBody>
                    <a:bodyPr/>
                    <a:lstStyle/>
                    <a:p>
                      <a:endParaRPr lang="en-IN" sz="1800" dirty="0"/>
                    </a:p>
                  </a:txBody>
                  <a:tcPr anchor="ctr">
                    <a:lnL>
                      <a:noFill/>
                    </a:lnL>
                    <a:lnR>
                      <a:noFill/>
                    </a:lnR>
                    <a:lnT>
                      <a:noFill/>
                    </a:lnT>
                    <a:lnB>
                      <a:noFill/>
                    </a:lnB>
                  </a:tcPr>
                </a:tc>
                <a:extLst>
                  <a:ext uri="{0D108BD9-81ED-4DB2-BD59-A6C34878D82A}">
                    <a16:rowId xmlns:a16="http://schemas.microsoft.com/office/drawing/2014/main" val="644325465"/>
                  </a:ext>
                </a:extLst>
              </a:tr>
            </a:tbl>
          </a:graphicData>
        </a:graphic>
      </p:graphicFrame>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069" y="2129314"/>
            <a:ext cx="7990531" cy="3228825"/>
          </a:xfrm>
          <a:prstGeom prst="rect">
            <a:avLst/>
          </a:prstGeom>
        </p:spPr>
      </p:pic>
    </p:spTree>
    <p:extLst>
      <p:ext uri="{BB962C8B-B14F-4D97-AF65-F5344CB8AC3E}">
        <p14:creationId xmlns:p14="http://schemas.microsoft.com/office/powerpoint/2010/main" val="1994527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85902"/>
            <a:ext cx="3226130" cy="215444"/>
          </a:xfrm>
        </p:spPr>
        <p:txBody>
          <a:bodyPr/>
          <a:lstStyle/>
          <a:p>
            <a:r>
              <a:rPr lang="en-IN" sz="1400" dirty="0" smtClean="0"/>
              <a:t>Data Flow:</a:t>
            </a:r>
            <a:endParaRPr lang="en-IN" sz="1400" dirty="0"/>
          </a:p>
        </p:txBody>
      </p:sp>
      <p:sp>
        <p:nvSpPr>
          <p:cNvPr id="3" name="Text Placeholder 2"/>
          <p:cNvSpPr>
            <a:spLocks noGrp="1"/>
          </p:cNvSpPr>
          <p:nvPr>
            <p:ph type="body" idx="1"/>
          </p:nvPr>
        </p:nvSpPr>
        <p:spPr>
          <a:xfrm>
            <a:off x="609600" y="1524000"/>
            <a:ext cx="10199369" cy="1477328"/>
          </a:xfrm>
        </p:spPr>
        <p:txBody>
          <a:bodyPr/>
          <a:lstStyle/>
          <a:p>
            <a:r>
              <a:rPr lang="en-US" sz="1200" dirty="0"/>
              <a:t>The data flow in the Online Quiz Application shows how information moves between the user, system, and database.</a:t>
            </a:r>
          </a:p>
          <a:p>
            <a:r>
              <a:rPr lang="en-US" sz="1200" dirty="0"/>
              <a:t>The user first registers and logs into the system. The entered details are stored in the Users table. </a:t>
            </a:r>
          </a:p>
          <a:p>
            <a:r>
              <a:rPr lang="en-US" sz="1200" dirty="0"/>
              <a:t>The admin adds quiz questions, which are saved in the Questions table. </a:t>
            </a:r>
          </a:p>
          <a:p>
            <a:r>
              <a:rPr lang="en-US" sz="1200" dirty="0"/>
              <a:t>When the user starts the quiz, questions are retrieved from the database and displayed on the screen. </a:t>
            </a:r>
          </a:p>
          <a:p>
            <a:r>
              <a:rPr lang="en-US" sz="1200" dirty="0"/>
              <a:t>The user selects answers and submits the quiz. </a:t>
            </a:r>
          </a:p>
          <a:p>
            <a:r>
              <a:rPr lang="en-US" sz="1200" dirty="0"/>
              <a:t>The system processes the answers, calculates the score, and generates the result. </a:t>
            </a:r>
          </a:p>
          <a:p>
            <a:r>
              <a:rPr lang="en-US" sz="1200" dirty="0"/>
              <a:t>The final score is stored in the Results table and displayed to the user instantly. </a:t>
            </a:r>
          </a:p>
          <a:p>
            <a:r>
              <a:rPr lang="en-US" sz="1200" dirty="0"/>
              <a:t>This flow ensures smooth communication between the frontend, backend, and database, making the system efficient and reliable.</a:t>
            </a:r>
          </a:p>
        </p:txBody>
      </p:sp>
    </p:spTree>
    <p:extLst>
      <p:ext uri="{BB962C8B-B14F-4D97-AF65-F5344CB8AC3E}">
        <p14:creationId xmlns:p14="http://schemas.microsoft.com/office/powerpoint/2010/main" val="19448740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8600" y="990600"/>
            <a:ext cx="5998668" cy="246221"/>
          </a:xfrm>
        </p:spPr>
        <p:txBody>
          <a:bodyPr/>
          <a:lstStyle/>
          <a:p>
            <a:r>
              <a:rPr lang="en-IN" sz="1600" dirty="0"/>
              <a:t>CHAPTER 5: SYSTEM MODULES</a:t>
            </a:r>
          </a:p>
        </p:txBody>
      </p:sp>
      <p:sp>
        <p:nvSpPr>
          <p:cNvPr id="3" name="Text Placeholder 2"/>
          <p:cNvSpPr>
            <a:spLocks noGrp="1"/>
          </p:cNvSpPr>
          <p:nvPr>
            <p:ph type="body" idx="1"/>
          </p:nvPr>
        </p:nvSpPr>
        <p:spPr>
          <a:xfrm>
            <a:off x="609600" y="1524000"/>
            <a:ext cx="10199369" cy="3231654"/>
          </a:xfrm>
        </p:spPr>
        <p:txBody>
          <a:bodyPr/>
          <a:lstStyle/>
          <a:p>
            <a:r>
              <a:rPr lang="en-US" sz="1400" b="1" dirty="0"/>
              <a:t>🔹 System Modules</a:t>
            </a:r>
          </a:p>
          <a:p>
            <a:r>
              <a:rPr lang="en-US" sz="1400" dirty="0"/>
              <a:t>The Online Quiz Application is divided into different modules to manage the system efficiently. Each module performs a specific function.</a:t>
            </a:r>
          </a:p>
          <a:p>
            <a:r>
              <a:rPr lang="en-US" sz="1400" b="1" dirty="0"/>
              <a:t>🔸 Login Module</a:t>
            </a:r>
          </a:p>
          <a:p>
            <a:r>
              <a:rPr lang="en-US" sz="1400" dirty="0"/>
              <a:t>This module handles user authentication. Users and admins must enter their credentials to log in. It ensures secure access and prevents unauthorized users.</a:t>
            </a:r>
          </a:p>
          <a:p>
            <a:r>
              <a:rPr lang="en-US" sz="1400" b="1" dirty="0"/>
              <a:t>🔸 Registration Module</a:t>
            </a:r>
          </a:p>
          <a:p>
            <a:r>
              <a:rPr lang="en-US" sz="1400" dirty="0"/>
              <a:t>This module allows new users to create an account by entering details like name, email, and password. After registration, users can log in to the system.</a:t>
            </a:r>
          </a:p>
          <a:p>
            <a:r>
              <a:rPr lang="en-US" sz="1400" b="1" dirty="0"/>
              <a:t>🔸 Quiz Module</a:t>
            </a:r>
          </a:p>
          <a:p>
            <a:r>
              <a:rPr lang="en-US" sz="1400" dirty="0"/>
              <a:t>This module displays quiz questions to users. It allows users to select answers, navigate between questions, and submit the quiz. It manages the entire quiz process.</a:t>
            </a:r>
          </a:p>
          <a:p>
            <a:r>
              <a:rPr lang="en-US" sz="1400" b="1" dirty="0"/>
              <a:t>🔸 Result Module</a:t>
            </a:r>
          </a:p>
          <a:p>
            <a:r>
              <a:rPr lang="en-US" sz="1400" dirty="0"/>
              <a:t>This module calculates the score after quiz submission. It displays the result instantly along with performance details.</a:t>
            </a:r>
          </a:p>
          <a:p>
            <a:r>
              <a:rPr lang="en-US" sz="1400" b="1" dirty="0"/>
              <a:t>🔸 Admin Module</a:t>
            </a:r>
          </a:p>
          <a:p>
            <a:r>
              <a:rPr lang="en-US" sz="1400" dirty="0"/>
              <a:t>This module is used by the administrator to manage the system. The admin can add, update, delete questions, and view user details and results.</a:t>
            </a:r>
          </a:p>
        </p:txBody>
      </p:sp>
    </p:spTree>
    <p:extLst>
      <p:ext uri="{BB962C8B-B14F-4D97-AF65-F5344CB8AC3E}">
        <p14:creationId xmlns:p14="http://schemas.microsoft.com/office/powerpoint/2010/main" val="18401490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5505" y="838200"/>
            <a:ext cx="8513268" cy="246221"/>
          </a:xfrm>
        </p:spPr>
        <p:txBody>
          <a:bodyPr/>
          <a:lstStyle/>
          <a:p>
            <a:r>
              <a:rPr lang="en-IN" sz="1600" dirty="0"/>
              <a:t>CHAPTER 6: IMPLEMENTATION</a:t>
            </a:r>
          </a:p>
        </p:txBody>
      </p:sp>
      <p:sp>
        <p:nvSpPr>
          <p:cNvPr id="25" name="Rectangle 24"/>
          <p:cNvSpPr/>
          <p:nvPr/>
        </p:nvSpPr>
        <p:spPr>
          <a:xfrm>
            <a:off x="838200" y="1109135"/>
            <a:ext cx="10439400" cy="5262979"/>
          </a:xfrm>
          <a:prstGeom prst="rect">
            <a:avLst/>
          </a:prstGeom>
        </p:spPr>
        <p:txBody>
          <a:bodyPr wrap="square">
            <a:spAutoFit/>
          </a:bodyPr>
          <a:lstStyle/>
          <a:p>
            <a:r>
              <a:rPr lang="en-US" sz="1200" dirty="0" smtClean="0">
                <a:latin typeface="Times New Roman" panose="02020603050405020304" pitchFamily="18" charset="0"/>
                <a:cs typeface="Times New Roman" panose="02020603050405020304" pitchFamily="18" charset="0"/>
              </a:rPr>
              <a:t>The Online Quiz Application is implemented using a combination of frontend, backend, and database technologies to ensure smooth functionality and user interaction.</a:t>
            </a:r>
          </a:p>
          <a:p>
            <a:r>
              <a:rPr lang="en-US" sz="1200" b="1" dirty="0" smtClean="0">
                <a:latin typeface="Times New Roman" panose="02020603050405020304" pitchFamily="18" charset="0"/>
                <a:cs typeface="Times New Roman" panose="02020603050405020304" pitchFamily="18" charset="0"/>
              </a:rPr>
              <a:t>1. Frontend Implementation</a:t>
            </a:r>
          </a:p>
          <a:p>
            <a:r>
              <a:rPr lang="en-US" sz="1200" dirty="0" smtClean="0">
                <a:latin typeface="Times New Roman" panose="02020603050405020304" pitchFamily="18" charset="0"/>
                <a:cs typeface="Times New Roman" panose="02020603050405020304" pitchFamily="18" charset="0"/>
              </a:rPr>
              <a:t>The user interface is developed using </a:t>
            </a:r>
            <a:r>
              <a:rPr lang="en-US" sz="1200" b="1" dirty="0" smtClean="0">
                <a:latin typeface="Times New Roman" panose="02020603050405020304" pitchFamily="18" charset="0"/>
                <a:cs typeface="Times New Roman" panose="02020603050405020304" pitchFamily="18" charset="0"/>
              </a:rPr>
              <a:t>HTML, CSS, and JavaScript</a:t>
            </a:r>
            <a:r>
              <a:rPr lang="en-US" sz="1200" dirty="0" smtClean="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HTML is used to structure the web pages. </a:t>
            </a:r>
          </a:p>
          <a:p>
            <a:pPr>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CSS is used for styling and layout design. </a:t>
            </a:r>
          </a:p>
          <a:p>
            <a:pPr>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JavaScript is used to handle user interactions like form validation, quiz navigation, and dynamic content updates. </a:t>
            </a:r>
          </a:p>
          <a:p>
            <a:r>
              <a:rPr lang="en-US" sz="1200" dirty="0" smtClean="0">
                <a:latin typeface="Times New Roman" panose="02020603050405020304" pitchFamily="18" charset="0"/>
                <a:cs typeface="Times New Roman" panose="02020603050405020304" pitchFamily="18" charset="0"/>
              </a:rPr>
              <a:t>This layer provides pages such as login, registration, quiz interface, and result display.</a:t>
            </a:r>
          </a:p>
          <a:p>
            <a:r>
              <a:rPr lang="en-US" sz="1200" b="1" dirty="0" smtClean="0">
                <a:latin typeface="Times New Roman" panose="02020603050405020304" pitchFamily="18" charset="0"/>
                <a:cs typeface="Times New Roman" panose="02020603050405020304" pitchFamily="18" charset="0"/>
              </a:rPr>
              <a:t>2. Backend Implementation</a:t>
            </a:r>
          </a:p>
          <a:p>
            <a:r>
              <a:rPr lang="en-US" sz="1200" dirty="0" smtClean="0">
                <a:latin typeface="Times New Roman" panose="02020603050405020304" pitchFamily="18" charset="0"/>
                <a:cs typeface="Times New Roman" panose="02020603050405020304" pitchFamily="18" charset="0"/>
              </a:rPr>
              <a:t>The backend is developed using technologies like </a:t>
            </a:r>
            <a:r>
              <a:rPr lang="en-US" sz="1200" b="1" dirty="0" smtClean="0">
                <a:latin typeface="Times New Roman" panose="02020603050405020304" pitchFamily="18" charset="0"/>
                <a:cs typeface="Times New Roman" panose="02020603050405020304" pitchFamily="18" charset="0"/>
              </a:rPr>
              <a:t>Python / Java / Node.js</a:t>
            </a:r>
            <a:r>
              <a:rPr lang="en-US" sz="1200" dirty="0" smtClean="0">
                <a:latin typeface="Times New Roman" panose="02020603050405020304" pitchFamily="18" charset="0"/>
                <a:cs typeface="Times New Roman" panose="02020603050405020304" pitchFamily="18" charset="0"/>
              </a:rPr>
              <a:t>.</a:t>
            </a:r>
          </a:p>
          <a:p>
            <a:r>
              <a:rPr lang="en-US" sz="1200" dirty="0" smtClean="0">
                <a:latin typeface="Times New Roman" panose="02020603050405020304" pitchFamily="18" charset="0"/>
                <a:cs typeface="Times New Roman" panose="02020603050405020304" pitchFamily="18" charset="0"/>
              </a:rPr>
              <a:t>It handles user authentication (login &amp; registration). </a:t>
            </a:r>
          </a:p>
          <a:p>
            <a:r>
              <a:rPr lang="en-US" sz="1200" dirty="0" smtClean="0">
                <a:latin typeface="Times New Roman" panose="02020603050405020304" pitchFamily="18" charset="0"/>
                <a:cs typeface="Times New Roman" panose="02020603050405020304" pitchFamily="18" charset="0"/>
              </a:rPr>
              <a:t>Processes quiz logic and manages question flow. </a:t>
            </a:r>
          </a:p>
          <a:p>
            <a:r>
              <a:rPr lang="en-US" sz="1200" dirty="0" smtClean="0">
                <a:latin typeface="Times New Roman" panose="02020603050405020304" pitchFamily="18" charset="0"/>
                <a:cs typeface="Times New Roman" panose="02020603050405020304" pitchFamily="18" charset="0"/>
              </a:rPr>
              <a:t>Evaluates answers submitted by users. </a:t>
            </a:r>
          </a:p>
          <a:p>
            <a:r>
              <a:rPr lang="en-US" sz="1200" dirty="0" smtClean="0">
                <a:latin typeface="Times New Roman" panose="02020603050405020304" pitchFamily="18" charset="0"/>
                <a:cs typeface="Times New Roman" panose="02020603050405020304" pitchFamily="18" charset="0"/>
              </a:rPr>
              <a:t>Generates and sends results to the frontend</a:t>
            </a:r>
          </a:p>
          <a:p>
            <a:r>
              <a:rPr lang="en-US" sz="1200" b="1" dirty="0" smtClean="0">
                <a:latin typeface="Times New Roman" panose="02020603050405020304" pitchFamily="18" charset="0"/>
                <a:cs typeface="Times New Roman" panose="02020603050405020304" pitchFamily="18" charset="0"/>
              </a:rPr>
              <a:t>3. Database Implementation</a:t>
            </a:r>
          </a:p>
          <a:p>
            <a:r>
              <a:rPr lang="en-US" sz="1200" dirty="0" smtClean="0">
                <a:latin typeface="Times New Roman" panose="02020603050405020304" pitchFamily="18" charset="0"/>
                <a:cs typeface="Times New Roman" panose="02020603050405020304" pitchFamily="18" charset="0"/>
              </a:rPr>
              <a:t>A database like </a:t>
            </a:r>
            <a:r>
              <a:rPr lang="en-US" sz="1200" b="1" dirty="0" smtClean="0">
                <a:latin typeface="Times New Roman" panose="02020603050405020304" pitchFamily="18" charset="0"/>
                <a:cs typeface="Times New Roman" panose="02020603050405020304" pitchFamily="18" charset="0"/>
              </a:rPr>
              <a:t>MySQL</a:t>
            </a:r>
            <a:r>
              <a:rPr lang="en-US" sz="1200" dirty="0" smtClean="0">
                <a:latin typeface="Times New Roman" panose="02020603050405020304" pitchFamily="18" charset="0"/>
                <a:cs typeface="Times New Roman" panose="02020603050405020304" pitchFamily="18" charset="0"/>
              </a:rPr>
              <a:t> is used to store and manage data.</a:t>
            </a:r>
          </a:p>
          <a:p>
            <a:r>
              <a:rPr lang="en-US" sz="1200" dirty="0" smtClean="0">
                <a:latin typeface="Times New Roman" panose="02020603050405020304" pitchFamily="18" charset="0"/>
                <a:cs typeface="Times New Roman" panose="02020603050405020304" pitchFamily="18" charset="0"/>
              </a:rPr>
              <a:t>Tables are created for users, quizzes, questions, and results. </a:t>
            </a:r>
          </a:p>
          <a:p>
            <a:r>
              <a:rPr lang="en-US" sz="1200" dirty="0" smtClean="0">
                <a:latin typeface="Times New Roman" panose="02020603050405020304" pitchFamily="18" charset="0"/>
                <a:cs typeface="Times New Roman" panose="02020603050405020304" pitchFamily="18" charset="0"/>
              </a:rPr>
              <a:t>SQL queries are used for inserting, updating, retrieving, and deleting data. </a:t>
            </a:r>
          </a:p>
          <a:p>
            <a:r>
              <a:rPr lang="en-US" sz="1200" dirty="0" smtClean="0">
                <a:latin typeface="Times New Roman" panose="02020603050405020304" pitchFamily="18" charset="0"/>
                <a:cs typeface="Times New Roman" panose="02020603050405020304" pitchFamily="18" charset="0"/>
              </a:rPr>
              <a:t>Relationships are maintained using primary and foreign keys. </a:t>
            </a:r>
          </a:p>
          <a:p>
            <a:r>
              <a:rPr lang="en-US" sz="1200" b="1" dirty="0" smtClean="0">
                <a:latin typeface="Times New Roman" panose="02020603050405020304" pitchFamily="18" charset="0"/>
                <a:cs typeface="Times New Roman" panose="02020603050405020304" pitchFamily="18" charset="0"/>
              </a:rPr>
              <a:t>4. Integration Process</a:t>
            </a:r>
          </a:p>
          <a:p>
            <a:r>
              <a:rPr lang="en-US" sz="1200" dirty="0" smtClean="0">
                <a:latin typeface="Times New Roman" panose="02020603050405020304" pitchFamily="18" charset="0"/>
                <a:cs typeface="Times New Roman" panose="02020603050405020304" pitchFamily="18" charset="0"/>
              </a:rPr>
              <a:t>Frontend communicates with backend using HTTP requests. </a:t>
            </a:r>
          </a:p>
          <a:p>
            <a:r>
              <a:rPr lang="en-US" sz="1200" dirty="0" smtClean="0">
                <a:latin typeface="Times New Roman" panose="02020603050405020304" pitchFamily="18" charset="0"/>
                <a:cs typeface="Times New Roman" panose="02020603050405020304" pitchFamily="18" charset="0"/>
              </a:rPr>
              <a:t>Backend interacts with the database to fetch and store data. </a:t>
            </a:r>
          </a:p>
          <a:p>
            <a:r>
              <a:rPr lang="en-US" sz="1200" dirty="0" smtClean="0">
                <a:latin typeface="Times New Roman" panose="02020603050405020304" pitchFamily="18" charset="0"/>
                <a:cs typeface="Times New Roman" panose="02020603050405020304" pitchFamily="18" charset="0"/>
              </a:rPr>
              <a:t>Data flows smoothly between all components to ensure real-time quiz functionality.</a:t>
            </a:r>
          </a:p>
          <a:p>
            <a:r>
              <a:rPr lang="en-US" sz="1200" b="1" dirty="0" smtClean="0">
                <a:latin typeface="Times New Roman" panose="02020603050405020304" pitchFamily="18" charset="0"/>
                <a:cs typeface="Times New Roman" panose="02020603050405020304" pitchFamily="18" charset="0"/>
              </a:rPr>
              <a:t>5. Testing &amp; Deployment</a:t>
            </a:r>
          </a:p>
          <a:p>
            <a:r>
              <a:rPr lang="en-US" sz="1200" dirty="0" smtClean="0">
                <a:latin typeface="Times New Roman" panose="02020603050405020304" pitchFamily="18" charset="0"/>
                <a:cs typeface="Times New Roman" panose="02020603050405020304" pitchFamily="18" charset="0"/>
              </a:rPr>
              <a:t>The application is tested using browsers like Chrome. </a:t>
            </a:r>
          </a:p>
          <a:p>
            <a:r>
              <a:rPr lang="en-US" sz="1200" dirty="0" smtClean="0">
                <a:latin typeface="Times New Roman" panose="02020603050405020304" pitchFamily="18" charset="0"/>
                <a:cs typeface="Times New Roman" panose="02020603050405020304" pitchFamily="18" charset="0"/>
              </a:rPr>
              <a:t>Debugging tools are used to fix errors. </a:t>
            </a:r>
          </a:p>
          <a:p>
            <a:r>
              <a:rPr lang="en-US" sz="1200" dirty="0" smtClean="0">
                <a:latin typeface="Times New Roman" panose="02020603050405020304" pitchFamily="18" charset="0"/>
                <a:cs typeface="Times New Roman" panose="02020603050405020304" pitchFamily="18" charset="0"/>
              </a:rPr>
              <a:t>The system can be deployed on a local server or online hosting platform.</a:t>
            </a:r>
          </a:p>
          <a:p>
            <a:endParaRPr lang="en-US" sz="1200" dirty="0" smtClean="0">
              <a:latin typeface="Times New Roman" panose="02020603050405020304" pitchFamily="18" charset="0"/>
              <a:cs typeface="Times New Roman" panose="02020603050405020304" pitchFamily="18" charset="0"/>
            </a:endParaRPr>
          </a:p>
          <a:p>
            <a:endParaRPr lang="en-US" sz="12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4972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0578" y="1460956"/>
            <a:ext cx="4398468" cy="215444"/>
          </a:xfrm>
        </p:spPr>
        <p:txBody>
          <a:bodyPr/>
          <a:lstStyle/>
          <a:p>
            <a:r>
              <a:rPr lang="en-IN" sz="1400" dirty="0"/>
              <a:t>User Interaction Based </a:t>
            </a:r>
            <a:r>
              <a:rPr lang="en-IN" sz="1400" dirty="0" smtClean="0"/>
              <a:t>Learning</a:t>
            </a:r>
            <a:endParaRPr lang="en-IN" dirty="0"/>
          </a:p>
        </p:txBody>
      </p:sp>
      <p:sp>
        <p:nvSpPr>
          <p:cNvPr id="3" name="Text Placeholder 2"/>
          <p:cNvSpPr>
            <a:spLocks noGrp="1"/>
          </p:cNvSpPr>
          <p:nvPr>
            <p:ph type="body" idx="1"/>
          </p:nvPr>
        </p:nvSpPr>
        <p:spPr>
          <a:xfrm>
            <a:off x="914400" y="1676400"/>
            <a:ext cx="10199369" cy="1661993"/>
          </a:xfrm>
        </p:spPr>
        <p:txBody>
          <a:bodyPr/>
          <a:lstStyle/>
          <a:p>
            <a:r>
              <a:rPr lang="en-US" sz="1200" dirty="0">
                <a:latin typeface="Times New Roman" panose="02020603050405020304" pitchFamily="18" charset="0"/>
                <a:cs typeface="Times New Roman" panose="02020603050405020304" pitchFamily="18" charset="0"/>
              </a:rPr>
              <a:t>The Online Quiz Application is designed to support </a:t>
            </a:r>
            <a:r>
              <a:rPr lang="en-US" sz="1200" b="1" dirty="0">
                <a:latin typeface="Times New Roman" panose="02020603050405020304" pitchFamily="18" charset="0"/>
                <a:cs typeface="Times New Roman" panose="02020603050405020304" pitchFamily="18" charset="0"/>
              </a:rPr>
              <a:t>interaction-based learning</a:t>
            </a:r>
            <a:r>
              <a:rPr lang="en-US" sz="1200" dirty="0">
                <a:latin typeface="Times New Roman" panose="02020603050405020304" pitchFamily="18" charset="0"/>
                <a:cs typeface="Times New Roman" panose="02020603050405020304" pitchFamily="18" charset="0"/>
              </a:rPr>
              <a:t>, where users actively engage with the system to improve their knowledge and understanding. Instead of passive learning, this approach encourages users to participate in quizzes, think critically, and receive immediate feedback.</a:t>
            </a:r>
          </a:p>
          <a:p>
            <a:r>
              <a:rPr lang="en-US" sz="1200" dirty="0">
                <a:latin typeface="Times New Roman" panose="02020603050405020304" pitchFamily="18" charset="0"/>
                <a:cs typeface="Times New Roman" panose="02020603050405020304" pitchFamily="18" charset="0"/>
              </a:rPr>
              <a:t>The system provides an interactive environment where users answer questions, navigate between quiz sections, and view results instantly. This continuous interaction helps users identify their strengths and weaknesses in different topics.</a:t>
            </a:r>
          </a:p>
          <a:p>
            <a:r>
              <a:rPr lang="en-US" sz="1200" dirty="0">
                <a:latin typeface="Times New Roman" panose="02020603050405020304" pitchFamily="18" charset="0"/>
                <a:cs typeface="Times New Roman" panose="02020603050405020304" pitchFamily="18" charset="0"/>
              </a:rPr>
              <a:t>One of the key features supporting interaction-based learning is </a:t>
            </a:r>
            <a:r>
              <a:rPr lang="en-US" sz="1200" b="1" dirty="0">
                <a:latin typeface="Times New Roman" panose="02020603050405020304" pitchFamily="18" charset="0"/>
                <a:cs typeface="Times New Roman" panose="02020603050405020304" pitchFamily="18" charset="0"/>
              </a:rPr>
              <a:t>instant feedback</a:t>
            </a:r>
            <a:r>
              <a:rPr lang="en-US" sz="1200" dirty="0">
                <a:latin typeface="Times New Roman" panose="02020603050405020304" pitchFamily="18" charset="0"/>
                <a:cs typeface="Times New Roman" panose="02020603050405020304" pitchFamily="18" charset="0"/>
              </a:rPr>
              <a:t>, which allows users to understand correct and incorrect answers immediately after completing the quiz. This helps in better retention of concepts and improves learning efficiency.</a:t>
            </a:r>
          </a:p>
          <a:p>
            <a:r>
              <a:rPr lang="en-US" sz="1200" dirty="0">
                <a:latin typeface="Times New Roman" panose="02020603050405020304" pitchFamily="18" charset="0"/>
                <a:cs typeface="Times New Roman" panose="02020603050405020304" pitchFamily="18" charset="0"/>
              </a:rPr>
              <a:t>Additionally, the system can include features like timers, score tracking, and performance analysis, which motivate users to perform better and stay engaged. The user-friendly interface further enhances interaction by making the system easy to use and accessible.</a:t>
            </a:r>
          </a:p>
          <a:p>
            <a:r>
              <a:rPr lang="en-US" sz="1200" dirty="0">
                <a:latin typeface="Times New Roman" panose="02020603050405020304" pitchFamily="18" charset="0"/>
                <a:cs typeface="Times New Roman" panose="02020603050405020304" pitchFamily="18" charset="0"/>
              </a:rPr>
              <a:t>Overall, the application promotes active learning, improves user engagement, and makes the assessment process more effective and enjoyable.</a:t>
            </a:r>
          </a:p>
        </p:txBody>
      </p:sp>
    </p:spTree>
    <p:extLst>
      <p:ext uri="{BB962C8B-B14F-4D97-AF65-F5344CB8AC3E}">
        <p14:creationId xmlns:p14="http://schemas.microsoft.com/office/powerpoint/2010/main" val="16374707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3800" y="1143000"/>
            <a:ext cx="6379668" cy="246221"/>
          </a:xfrm>
        </p:spPr>
        <p:txBody>
          <a:bodyPr/>
          <a:lstStyle/>
          <a:p>
            <a:r>
              <a:rPr lang="en-IN" sz="1600" dirty="0"/>
              <a:t>CHAPTER 7: OUTPUT SCREENS</a:t>
            </a:r>
          </a:p>
        </p:txBody>
      </p:sp>
      <p:sp>
        <p:nvSpPr>
          <p:cNvPr id="3" name="Text Placeholder 2"/>
          <p:cNvSpPr>
            <a:spLocks noGrp="1"/>
          </p:cNvSpPr>
          <p:nvPr>
            <p:ph type="body" idx="1"/>
          </p:nvPr>
        </p:nvSpPr>
        <p:spPr>
          <a:xfrm>
            <a:off x="533400" y="1447800"/>
            <a:ext cx="10199369" cy="400110"/>
          </a:xfrm>
        </p:spPr>
        <p:txBody>
          <a:bodyPr/>
          <a:lstStyle/>
          <a:p>
            <a:r>
              <a:rPr lang="en-US" sz="1400" b="1" dirty="0"/>
              <a:t>Login Screen</a:t>
            </a:r>
          </a:p>
          <a:p>
            <a:r>
              <a:rPr lang="en-US" sz="1200" dirty="0"/>
              <a:t>Users enter credentials to login into the system.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341" y="2133600"/>
            <a:ext cx="10058400" cy="3706333"/>
          </a:xfrm>
          <a:prstGeom prst="rect">
            <a:avLst/>
          </a:prstGeom>
        </p:spPr>
      </p:pic>
    </p:spTree>
    <p:extLst>
      <p:ext uri="{BB962C8B-B14F-4D97-AF65-F5344CB8AC3E}">
        <p14:creationId xmlns:p14="http://schemas.microsoft.com/office/powerpoint/2010/main" val="3313354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333" y="1219200"/>
            <a:ext cx="3226130" cy="215444"/>
          </a:xfrm>
        </p:spPr>
        <p:txBody>
          <a:bodyPr/>
          <a:lstStyle/>
          <a:p>
            <a:r>
              <a:rPr lang="en-IN" sz="1400" dirty="0" smtClean="0"/>
              <a:t>Quiz Screen:</a:t>
            </a:r>
            <a:endParaRPr lang="en-IN" sz="1400" dirty="0"/>
          </a:p>
        </p:txBody>
      </p:sp>
      <p:sp>
        <p:nvSpPr>
          <p:cNvPr id="3" name="Text Placeholder 2"/>
          <p:cNvSpPr>
            <a:spLocks noGrp="1"/>
          </p:cNvSpPr>
          <p:nvPr>
            <p:ph type="body" idx="1"/>
          </p:nvPr>
        </p:nvSpPr>
        <p:spPr>
          <a:xfrm>
            <a:off x="859333" y="1524000"/>
            <a:ext cx="10336352" cy="184666"/>
          </a:xfrm>
        </p:spPr>
        <p:txBody>
          <a:bodyPr/>
          <a:lstStyle/>
          <a:p>
            <a:r>
              <a:rPr lang="en-US" sz="1200" dirty="0">
                <a:latin typeface="Times New Roman" panose="02020603050405020304" pitchFamily="18" charset="0"/>
                <a:cs typeface="Times New Roman" panose="02020603050405020304" pitchFamily="18" charset="0"/>
              </a:rPr>
              <a:t>Users attempt questions in this screen.</a:t>
            </a:r>
            <a:endParaRPr lang="en-IN" sz="1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333" y="1820676"/>
            <a:ext cx="10058400" cy="4475825"/>
          </a:xfrm>
          <a:prstGeom prst="rect">
            <a:avLst/>
          </a:prstGeom>
        </p:spPr>
      </p:pic>
    </p:spTree>
    <p:extLst>
      <p:ext uri="{BB962C8B-B14F-4D97-AF65-F5344CB8AC3E}">
        <p14:creationId xmlns:p14="http://schemas.microsoft.com/office/powerpoint/2010/main" val="2354969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333" y="1219200"/>
            <a:ext cx="3226130" cy="215444"/>
          </a:xfrm>
        </p:spPr>
        <p:txBody>
          <a:bodyPr/>
          <a:lstStyle/>
          <a:p>
            <a:r>
              <a:rPr lang="en-IN" sz="1400" dirty="0" smtClean="0"/>
              <a:t>Result Screen</a:t>
            </a:r>
            <a:endParaRPr lang="en-IN" dirty="0"/>
          </a:p>
        </p:txBody>
      </p:sp>
      <p:sp>
        <p:nvSpPr>
          <p:cNvPr id="3" name="Text Placeholder 2"/>
          <p:cNvSpPr>
            <a:spLocks noGrp="1"/>
          </p:cNvSpPr>
          <p:nvPr>
            <p:ph type="body" idx="1"/>
          </p:nvPr>
        </p:nvSpPr>
        <p:spPr>
          <a:xfrm>
            <a:off x="859333" y="1524000"/>
            <a:ext cx="10336352" cy="184666"/>
          </a:xfrm>
        </p:spPr>
        <p:txBody>
          <a:bodyPr/>
          <a:lstStyle/>
          <a:p>
            <a:r>
              <a:rPr lang="en-IN" sz="1200" dirty="0">
                <a:latin typeface="Times New Roman" panose="02020603050405020304" pitchFamily="18" charset="0"/>
                <a:cs typeface="Times New Roman" panose="02020603050405020304" pitchFamily="18" charset="0"/>
              </a:rPr>
              <a:t>Displays score and performance.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333" y="1905000"/>
            <a:ext cx="9829800" cy="4572000"/>
          </a:xfrm>
          <a:prstGeom prst="rect">
            <a:avLst/>
          </a:prstGeom>
        </p:spPr>
      </p:pic>
    </p:spTree>
    <p:extLst>
      <p:ext uri="{BB962C8B-B14F-4D97-AF65-F5344CB8AC3E}">
        <p14:creationId xmlns:p14="http://schemas.microsoft.com/office/powerpoint/2010/main" val="18737807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3800" y="1143000"/>
            <a:ext cx="8894268" cy="246221"/>
          </a:xfrm>
        </p:spPr>
        <p:txBody>
          <a:bodyPr/>
          <a:lstStyle/>
          <a:p>
            <a:r>
              <a:rPr lang="en-IN" sz="1600" dirty="0"/>
              <a:t>CHAPTER 8: ADVANTAGES &amp; LIMITATIONS</a:t>
            </a:r>
          </a:p>
        </p:txBody>
      </p:sp>
      <p:sp>
        <p:nvSpPr>
          <p:cNvPr id="3" name="Text Placeholder 2"/>
          <p:cNvSpPr>
            <a:spLocks noGrp="1"/>
          </p:cNvSpPr>
          <p:nvPr>
            <p:ph type="body" idx="1"/>
          </p:nvPr>
        </p:nvSpPr>
        <p:spPr>
          <a:xfrm>
            <a:off x="609600" y="1600200"/>
            <a:ext cx="10199369" cy="4062651"/>
          </a:xfrm>
        </p:spPr>
        <p:txBody>
          <a:bodyPr/>
          <a:lstStyle/>
          <a:p>
            <a:r>
              <a:rPr lang="en-US" sz="1400" b="1" dirty="0" smtClean="0">
                <a:latin typeface="Times New Roman" panose="02020603050405020304" pitchFamily="18" charset="0"/>
                <a:cs typeface="Times New Roman" panose="02020603050405020304" pitchFamily="18" charset="0"/>
              </a:rPr>
              <a:t>Advantages</a:t>
            </a:r>
          </a:p>
          <a:p>
            <a:r>
              <a:rPr lang="en-US" sz="1200" dirty="0">
                <a:latin typeface="Times New Roman" panose="02020603050405020304" pitchFamily="18" charset="0"/>
                <a:cs typeface="Times New Roman" panose="02020603050405020304" pitchFamily="18" charset="0"/>
              </a:rPr>
              <a:t>Time Saving:</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Reduces the time required for conducting exams and evaluating answers. </a:t>
            </a:r>
          </a:p>
          <a:p>
            <a:r>
              <a:rPr lang="en-US" sz="1200" dirty="0">
                <a:latin typeface="Times New Roman" panose="02020603050405020304" pitchFamily="18" charset="0"/>
                <a:cs typeface="Times New Roman" panose="02020603050405020304" pitchFamily="18" charset="0"/>
              </a:rPr>
              <a:t>Instant Results: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Provides immediate feedback and scores after quiz completion. </a:t>
            </a:r>
          </a:p>
          <a:p>
            <a:r>
              <a:rPr lang="en-US" sz="1200" dirty="0">
                <a:latin typeface="Times New Roman" panose="02020603050405020304" pitchFamily="18" charset="0"/>
                <a:cs typeface="Times New Roman" panose="02020603050405020304" pitchFamily="18" charset="0"/>
              </a:rPr>
              <a:t>Accuracy:</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Eliminates human errors in evaluation and result calculation. </a:t>
            </a:r>
          </a:p>
          <a:p>
            <a:r>
              <a:rPr lang="en-US" sz="1200" dirty="0">
                <a:latin typeface="Times New Roman" panose="02020603050405020304" pitchFamily="18" charset="0"/>
                <a:cs typeface="Times New Roman" panose="02020603050405020304" pitchFamily="18" charset="0"/>
              </a:rPr>
              <a:t>User-Friendly:</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Easy to use interface for both users and administrators. </a:t>
            </a:r>
          </a:p>
          <a:p>
            <a:r>
              <a:rPr lang="en-US" sz="1200" dirty="0">
                <a:latin typeface="Times New Roman" panose="02020603050405020304" pitchFamily="18" charset="0"/>
                <a:cs typeface="Times New Roman" panose="02020603050405020304" pitchFamily="18" charset="0"/>
              </a:rPr>
              <a:t>Accessibility:</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Users can take quizzes anytime and from anywhere with internet access. </a:t>
            </a:r>
          </a:p>
          <a:p>
            <a:r>
              <a:rPr lang="en-US" sz="1200" dirty="0">
                <a:latin typeface="Times New Roman" panose="02020603050405020304" pitchFamily="18" charset="0"/>
                <a:cs typeface="Times New Roman" panose="02020603050405020304" pitchFamily="18" charset="0"/>
              </a:rPr>
              <a:t>Paperless System:</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Reduces the use of paper, making it eco-friendly. </a:t>
            </a:r>
          </a:p>
          <a:p>
            <a:r>
              <a:rPr lang="en-US" sz="1200" dirty="0">
                <a:latin typeface="Times New Roman" panose="02020603050405020304" pitchFamily="18" charset="0"/>
                <a:cs typeface="Times New Roman" panose="02020603050405020304" pitchFamily="18" charset="0"/>
              </a:rPr>
              <a:t>Efficient Management:</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Admin can easily manage questions, users, and quiz data. </a:t>
            </a:r>
          </a:p>
          <a:p>
            <a:r>
              <a:rPr lang="en-US" sz="1200" dirty="0">
                <a:latin typeface="Times New Roman" panose="02020603050405020304" pitchFamily="18" charset="0"/>
                <a:cs typeface="Times New Roman" panose="02020603050405020304" pitchFamily="18" charset="0"/>
              </a:rPr>
              <a:t>Secure Data Storage:</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Stores all information safely in a structured database. </a:t>
            </a:r>
          </a:p>
          <a:p>
            <a:r>
              <a:rPr lang="en-US" sz="1200" dirty="0">
                <a:latin typeface="Times New Roman" panose="02020603050405020304" pitchFamily="18" charset="0"/>
                <a:cs typeface="Times New Roman" panose="02020603050405020304" pitchFamily="18" charset="0"/>
              </a:rPr>
              <a:t>Scalability:</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Can handle a large number of users and quizzes simultaneously. </a:t>
            </a:r>
          </a:p>
          <a:p>
            <a:r>
              <a:rPr lang="en-US" sz="1200" dirty="0">
                <a:latin typeface="Times New Roman" panose="02020603050405020304" pitchFamily="18" charset="0"/>
                <a:cs typeface="Times New Roman" panose="02020603050405020304" pitchFamily="18" charset="0"/>
              </a:rPr>
              <a:t>Improved Learning Experience:</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Helps users learn through interactive and engaging quizzes. </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709480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95400"/>
            <a:ext cx="3552062" cy="492443"/>
          </a:xfrm>
        </p:spPr>
        <p:txBody>
          <a:bodyPr/>
          <a:lstStyle/>
          <a:p>
            <a:r>
              <a:rPr lang="en-IN" sz="1600" dirty="0" smtClean="0"/>
              <a:t>Limitations</a:t>
            </a:r>
            <a:br>
              <a:rPr lang="en-IN" sz="1600" dirty="0" smtClean="0"/>
            </a:br>
            <a:endParaRPr lang="en-IN" sz="1600" dirty="0"/>
          </a:p>
        </p:txBody>
      </p:sp>
      <p:sp>
        <p:nvSpPr>
          <p:cNvPr id="5" name="Rectangle 2"/>
          <p:cNvSpPr>
            <a:spLocks noChangeArrowheads="1"/>
          </p:cNvSpPr>
          <p:nvPr/>
        </p:nvSpPr>
        <p:spPr bwMode="auto">
          <a:xfrm>
            <a:off x="685800" y="1447800"/>
            <a:ext cx="610936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Internet Dependency:</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Requires a stable internet connection to access and attempt quizzes.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Technical Issues:</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System errors, server downtime, or bugs may affect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Limited Question Types:</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Mostly supports objective questions (MCQs), less suitable for descriptive answers.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Security Risks:</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Possibility of cheating or unauthorized access if proper security measures are not implemented.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Device Requirement:</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must have access to a computer or smartphone to use the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Initial Setup Effort:</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Requires time and effort to design, develop, and maintain the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Lack of Personal Interaction:</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 direct communication between instructor and student during the quiz.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Privacy Concerns:</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 data must be properly protected to avoid misuse or leaks. </a:t>
            </a:r>
          </a:p>
        </p:txBody>
      </p:sp>
    </p:spTree>
    <p:extLst>
      <p:ext uri="{BB962C8B-B14F-4D97-AF65-F5344CB8AC3E}">
        <p14:creationId xmlns:p14="http://schemas.microsoft.com/office/powerpoint/2010/main" val="30811405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3800" y="1143000"/>
            <a:ext cx="6074868" cy="246221"/>
          </a:xfrm>
        </p:spPr>
        <p:txBody>
          <a:bodyPr/>
          <a:lstStyle/>
          <a:p>
            <a:r>
              <a:rPr lang="en-IN" sz="1600" dirty="0"/>
              <a:t>CHAPTER 9: FUTURE ENHANCEMENTS</a:t>
            </a:r>
          </a:p>
        </p:txBody>
      </p:sp>
      <p:sp>
        <p:nvSpPr>
          <p:cNvPr id="3" name="Text Placeholder 2"/>
          <p:cNvSpPr>
            <a:spLocks noGrp="1"/>
          </p:cNvSpPr>
          <p:nvPr>
            <p:ph type="body" idx="1"/>
          </p:nvPr>
        </p:nvSpPr>
        <p:spPr>
          <a:xfrm>
            <a:off x="762000" y="1728174"/>
            <a:ext cx="10199369" cy="400110"/>
          </a:xfrm>
        </p:spPr>
        <p:txBody>
          <a:bodyPr/>
          <a:lstStyle/>
          <a:p>
            <a:r>
              <a:rPr lang="en-IN" sz="1400" b="1" dirty="0"/>
              <a:t>Future Enhancements</a:t>
            </a:r>
          </a:p>
          <a:p>
            <a:endParaRPr lang="en-IN" sz="1200" dirty="0"/>
          </a:p>
        </p:txBody>
      </p:sp>
      <p:sp>
        <p:nvSpPr>
          <p:cNvPr id="4" name="Rectangle 1"/>
          <p:cNvSpPr>
            <a:spLocks noChangeArrowheads="1"/>
          </p:cNvSpPr>
          <p:nvPr/>
        </p:nvSpPr>
        <p:spPr bwMode="auto">
          <a:xfrm>
            <a:off x="685800" y="1905000"/>
            <a:ext cx="535114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Timer-Based Quizzes:</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Add time limits for each quiz to increase difficulty and improve time management.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Advanced Question Types:</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Include descriptive, image-based, and video-based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Leaderboard System:</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Display top performers to encourage healthy competition among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Performance Analytics:</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Provide detailed reports and graphs showing user performance and progress.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Mobile Application:</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Develop an Android/iOS app for better accessibility and user experience.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AI-Based Recommendations:</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Suggest quizzes based on user performance and interests.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Multi-Language Support:</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Allow users to take quizzes in different languages.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 Feedback System:</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Enable users to give feedback on quizzes for improvement.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Secure Proctoring System:</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Implement features like webcam monitoring to prevent cheating.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Cloud Integration:</a:t>
            </a:r>
            <a:b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Host the application on cloud platforms for better scalability and availability. </a:t>
            </a:r>
          </a:p>
        </p:txBody>
      </p:sp>
    </p:spTree>
    <p:extLst>
      <p:ext uri="{BB962C8B-B14F-4D97-AF65-F5344CB8AC3E}">
        <p14:creationId xmlns:p14="http://schemas.microsoft.com/office/powerpoint/2010/main" val="31857255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0" y="1066800"/>
            <a:ext cx="5922468" cy="246221"/>
          </a:xfrm>
        </p:spPr>
        <p:txBody>
          <a:bodyPr/>
          <a:lstStyle/>
          <a:p>
            <a:r>
              <a:rPr lang="en-IN" sz="1600" dirty="0"/>
              <a:t>CHAPTER 10: CONCLUSION</a:t>
            </a:r>
          </a:p>
        </p:txBody>
      </p:sp>
      <p:sp>
        <p:nvSpPr>
          <p:cNvPr id="3" name="Text Placeholder 2"/>
          <p:cNvSpPr>
            <a:spLocks noGrp="1"/>
          </p:cNvSpPr>
          <p:nvPr>
            <p:ph type="body" idx="1"/>
          </p:nvPr>
        </p:nvSpPr>
        <p:spPr>
          <a:xfrm>
            <a:off x="914400" y="1524000"/>
            <a:ext cx="10199369" cy="1785104"/>
          </a:xfrm>
        </p:spPr>
        <p:txBody>
          <a:bodyPr/>
          <a:lstStyle/>
          <a:p>
            <a:r>
              <a:rPr lang="en-US" sz="1400" b="1" dirty="0"/>
              <a:t>Conclusion</a:t>
            </a:r>
          </a:p>
          <a:p>
            <a:r>
              <a:rPr lang="en-US" sz="1200" dirty="0"/>
              <a:t>The Online Quiz Application successfully provides a modern and efficient solution for conducting quizzes and assessments. It replaces the traditional paper-based system with a digital platform that is faster, more accurate, and easy to manage. The system allows users to participate in quizzes from anywhere and receive instant results, improving both convenience and learning efficiency.</a:t>
            </a:r>
          </a:p>
          <a:p>
            <a:r>
              <a:rPr lang="en-US" sz="1200" dirty="0"/>
              <a:t>With features like automated evaluation, secure data management, and user-friendly interface, the application reduces manual effort and minimizes errors. It also enables administrators to manage quiz content effectively, making the entire process more organized and reliable.</a:t>
            </a:r>
          </a:p>
          <a:p>
            <a:r>
              <a:rPr lang="en-US" sz="1200" dirty="0"/>
              <a:t>Overall, the project demonstrates how technology can enhance the learning and assessment experience. The Online Quiz Application is a scalable and flexible system that can be further improved with advanced features in the future, making it highly useful for educational institutions and online learning platforms.</a:t>
            </a:r>
          </a:p>
          <a:p>
            <a:endParaRPr lang="en-IN" dirty="0"/>
          </a:p>
        </p:txBody>
      </p:sp>
    </p:spTree>
    <p:extLst>
      <p:ext uri="{BB962C8B-B14F-4D97-AF65-F5344CB8AC3E}">
        <p14:creationId xmlns:p14="http://schemas.microsoft.com/office/powerpoint/2010/main" val="37775759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19200"/>
            <a:ext cx="3226130" cy="215444"/>
          </a:xfrm>
        </p:spPr>
        <p:txBody>
          <a:bodyPr/>
          <a:lstStyle/>
          <a:p>
            <a:r>
              <a:rPr lang="en-IN" sz="1400" dirty="0" smtClean="0"/>
              <a:t>References &amp; Appendix</a:t>
            </a:r>
            <a:endParaRPr lang="en-IN" dirty="0"/>
          </a:p>
        </p:txBody>
      </p:sp>
      <p:sp>
        <p:nvSpPr>
          <p:cNvPr id="3" name="Text Placeholder 2"/>
          <p:cNvSpPr>
            <a:spLocks noGrp="1"/>
          </p:cNvSpPr>
          <p:nvPr>
            <p:ph type="body" idx="1"/>
          </p:nvPr>
        </p:nvSpPr>
        <p:spPr>
          <a:xfrm>
            <a:off x="609600" y="1524000"/>
            <a:ext cx="10199369" cy="4862870"/>
          </a:xfrm>
        </p:spPr>
        <p:txBody>
          <a:bodyPr/>
          <a:lstStyle/>
          <a:p>
            <a:r>
              <a:rPr lang="en-IN" sz="1400" dirty="0" smtClean="0">
                <a:latin typeface="Times New Roman" panose="02020603050405020304" pitchFamily="18" charset="0"/>
                <a:cs typeface="Times New Roman" panose="02020603050405020304" pitchFamily="18" charset="0"/>
              </a:rPr>
              <a:t>References:</a:t>
            </a:r>
            <a:endParaRPr lang="en-US" altLang="en-US" sz="1400" dirty="0">
              <a:latin typeface="Times New Roman" panose="02020603050405020304" pitchFamily="18" charset="0"/>
              <a:cs typeface="Times New Roman" panose="02020603050405020304" pitchFamily="18" charset="0"/>
            </a:endParaRPr>
          </a:p>
          <a:p>
            <a:pPr lvl="0" algn="l" rtl="0" eaLnBrk="0" fontAlgn="base" hangingPunct="0">
              <a:spcBef>
                <a:spcPct val="0"/>
              </a:spcBef>
              <a:spcAft>
                <a:spcPct val="0"/>
              </a:spcAft>
              <a:buFontTx/>
              <a:buChar char="•"/>
            </a:pPr>
            <a:r>
              <a:rPr lang="en-US" altLang="en-US" sz="1200" dirty="0">
                <a:latin typeface="Times New Roman" panose="02020603050405020304" pitchFamily="18" charset="0"/>
                <a:cs typeface="Times New Roman" panose="02020603050405020304" pitchFamily="18" charset="0"/>
              </a:rPr>
              <a:t>W3Schools – </a:t>
            </a:r>
            <a:r>
              <a:rPr lang="en-US" altLang="en-US" sz="1200" i="1" dirty="0">
                <a:latin typeface="Times New Roman" panose="02020603050405020304" pitchFamily="18" charset="0"/>
                <a:cs typeface="Times New Roman" panose="02020603050405020304" pitchFamily="18" charset="0"/>
                <a:hlinkClick r:id="rId2"/>
              </a:rPr>
              <a:t>https://www.w3schools.com/</a:t>
            </a:r>
            <a:r>
              <a:rPr lang="en-US" altLang="en-US" sz="1200" dirty="0">
                <a:latin typeface="Times New Roman" panose="02020603050405020304" pitchFamily="18" charset="0"/>
                <a:cs typeface="Times New Roman" panose="02020603050405020304" pitchFamily="18" charset="0"/>
              </a:rPr>
              <a:t> (for HTML, CSS, JavaScript learning) </a:t>
            </a:r>
          </a:p>
          <a:p>
            <a:pPr lvl="0" algn="l" rtl="0" eaLnBrk="0" fontAlgn="base" hangingPunct="0">
              <a:spcBef>
                <a:spcPct val="0"/>
              </a:spcBef>
              <a:spcAft>
                <a:spcPct val="0"/>
              </a:spcAft>
              <a:buFontTx/>
              <a:buChar char="•"/>
            </a:pPr>
            <a:r>
              <a:rPr lang="en-US" altLang="en-US" sz="1200" dirty="0">
                <a:latin typeface="Times New Roman" panose="02020603050405020304" pitchFamily="18" charset="0"/>
                <a:cs typeface="Times New Roman" panose="02020603050405020304" pitchFamily="18" charset="0"/>
              </a:rPr>
              <a:t>MDN Web Docs – </a:t>
            </a:r>
            <a:r>
              <a:rPr lang="en-US" altLang="en-US" sz="1200" i="1" dirty="0">
                <a:latin typeface="Times New Roman" panose="02020603050405020304" pitchFamily="18" charset="0"/>
                <a:cs typeface="Times New Roman" panose="02020603050405020304" pitchFamily="18" charset="0"/>
                <a:hlinkClick r:id="rId3"/>
              </a:rPr>
              <a:t>https://developer.mozilla.org/</a:t>
            </a:r>
            <a:r>
              <a:rPr lang="en-US" altLang="en-US" sz="1200" dirty="0">
                <a:latin typeface="Times New Roman" panose="02020603050405020304" pitchFamily="18" charset="0"/>
                <a:cs typeface="Times New Roman" panose="02020603050405020304" pitchFamily="18" charset="0"/>
              </a:rPr>
              <a:t> (for web development concepts) </a:t>
            </a:r>
          </a:p>
          <a:p>
            <a:pPr lvl="0" algn="l" rtl="0" eaLnBrk="0" fontAlgn="base" hangingPunct="0">
              <a:spcBef>
                <a:spcPct val="0"/>
              </a:spcBef>
              <a:spcAft>
                <a:spcPct val="0"/>
              </a:spcAft>
              <a:buFontTx/>
              <a:buChar char="•"/>
            </a:pPr>
            <a:r>
              <a:rPr lang="en-US" altLang="en-US" sz="1200" dirty="0" err="1">
                <a:latin typeface="Times New Roman" panose="02020603050405020304" pitchFamily="18" charset="0"/>
                <a:cs typeface="Times New Roman" panose="02020603050405020304" pitchFamily="18" charset="0"/>
              </a:rPr>
              <a:t>GeeksforGeeks</a:t>
            </a:r>
            <a:r>
              <a:rPr lang="en-US" altLang="en-US" sz="1200" dirty="0">
                <a:latin typeface="Times New Roman" panose="02020603050405020304" pitchFamily="18" charset="0"/>
                <a:cs typeface="Times New Roman" panose="02020603050405020304" pitchFamily="18" charset="0"/>
              </a:rPr>
              <a:t> – </a:t>
            </a:r>
            <a:r>
              <a:rPr lang="en-US" altLang="en-US" sz="1200" i="1" dirty="0">
                <a:latin typeface="Times New Roman" panose="02020603050405020304" pitchFamily="18" charset="0"/>
                <a:cs typeface="Times New Roman" panose="02020603050405020304" pitchFamily="18" charset="0"/>
                <a:hlinkClick r:id="rId4"/>
              </a:rPr>
              <a:t>https://www.geeksforgeeks.org/</a:t>
            </a:r>
            <a:r>
              <a:rPr lang="en-US" altLang="en-US" sz="1200" dirty="0">
                <a:latin typeface="Times New Roman" panose="02020603050405020304" pitchFamily="18" charset="0"/>
                <a:cs typeface="Times New Roman" panose="02020603050405020304" pitchFamily="18" charset="0"/>
              </a:rPr>
              <a:t> (for programming and database concepts) </a:t>
            </a:r>
          </a:p>
          <a:p>
            <a:pPr lvl="0" algn="l" rtl="0" eaLnBrk="0" fontAlgn="base" hangingPunct="0">
              <a:spcBef>
                <a:spcPct val="0"/>
              </a:spcBef>
              <a:spcAft>
                <a:spcPct val="0"/>
              </a:spcAft>
              <a:buFontTx/>
              <a:buChar char="•"/>
            </a:pPr>
            <a:r>
              <a:rPr lang="en-US" altLang="en-US" sz="1200" dirty="0">
                <a:latin typeface="Times New Roman" panose="02020603050405020304" pitchFamily="18" charset="0"/>
                <a:cs typeface="Times New Roman" panose="02020603050405020304" pitchFamily="18" charset="0"/>
              </a:rPr>
              <a:t>Official MySQL Documentation – </a:t>
            </a:r>
            <a:r>
              <a:rPr lang="en-US" altLang="en-US" sz="1200" i="1" dirty="0">
                <a:latin typeface="Times New Roman" panose="02020603050405020304" pitchFamily="18" charset="0"/>
                <a:cs typeface="Times New Roman" panose="02020603050405020304" pitchFamily="18" charset="0"/>
                <a:hlinkClick r:id="rId5"/>
              </a:rPr>
              <a:t>https://dev.mysql.com/doc/</a:t>
            </a:r>
            <a:r>
              <a:rPr lang="en-US" altLang="en-US" sz="1200" dirty="0">
                <a:latin typeface="Times New Roman" panose="02020603050405020304" pitchFamily="18" charset="0"/>
                <a:cs typeface="Times New Roman" panose="02020603050405020304" pitchFamily="18" charset="0"/>
              </a:rPr>
              <a:t> </a:t>
            </a:r>
          </a:p>
          <a:p>
            <a:pPr lvl="0" algn="l" rtl="0" eaLnBrk="0" fontAlgn="base" hangingPunct="0">
              <a:spcBef>
                <a:spcPct val="0"/>
              </a:spcBef>
              <a:spcAft>
                <a:spcPct val="0"/>
              </a:spcAft>
              <a:buFontTx/>
              <a:buChar char="•"/>
            </a:pPr>
            <a:r>
              <a:rPr lang="en-US" altLang="en-US" sz="1200" dirty="0">
                <a:latin typeface="Times New Roman" panose="02020603050405020304" pitchFamily="18" charset="0"/>
                <a:cs typeface="Times New Roman" panose="02020603050405020304" pitchFamily="18" charset="0"/>
              </a:rPr>
              <a:t>Stack Overflow – </a:t>
            </a:r>
            <a:r>
              <a:rPr lang="en-US" altLang="en-US" sz="1200" i="1" dirty="0">
                <a:latin typeface="Times New Roman" panose="02020603050405020304" pitchFamily="18" charset="0"/>
                <a:cs typeface="Times New Roman" panose="02020603050405020304" pitchFamily="18" charset="0"/>
                <a:hlinkClick r:id="rId6"/>
              </a:rPr>
              <a:t>https://stackoverflow.com/</a:t>
            </a:r>
            <a:r>
              <a:rPr lang="en-US" altLang="en-US" sz="1200" dirty="0">
                <a:latin typeface="Times New Roman" panose="02020603050405020304" pitchFamily="18" charset="0"/>
                <a:cs typeface="Times New Roman" panose="02020603050405020304" pitchFamily="18" charset="0"/>
              </a:rPr>
              <a:t> (for troubleshooting and coding help) </a:t>
            </a:r>
          </a:p>
          <a:p>
            <a:pPr lvl="0" algn="l" rtl="0" eaLnBrk="0" fontAlgn="base" hangingPunct="0">
              <a:spcBef>
                <a:spcPct val="0"/>
              </a:spcBef>
              <a:spcAft>
                <a:spcPct val="0"/>
              </a:spcAft>
              <a:buFontTx/>
              <a:buChar char="•"/>
            </a:pPr>
            <a:r>
              <a:rPr lang="en-US" altLang="en-US" sz="1200" dirty="0">
                <a:latin typeface="Times New Roman" panose="02020603050405020304" pitchFamily="18" charset="0"/>
                <a:cs typeface="Times New Roman" panose="02020603050405020304" pitchFamily="18" charset="0"/>
              </a:rPr>
              <a:t>YouTube Tutorials (various channels for project guidance) </a:t>
            </a:r>
            <a:endParaRPr lang="en-US" altLang="en-US" sz="1200" dirty="0" smtClean="0">
              <a:latin typeface="Times New Roman" panose="02020603050405020304" pitchFamily="18" charset="0"/>
              <a:cs typeface="Times New Roman" panose="02020603050405020304" pitchFamily="18" charset="0"/>
            </a:endParaRPr>
          </a:p>
          <a:p>
            <a:pPr lvl="0" algn="l" rtl="0" eaLnBrk="0" fontAlgn="base" hangingPunct="0">
              <a:spcBef>
                <a:spcPct val="0"/>
              </a:spcBef>
              <a:spcAft>
                <a:spcPct val="0"/>
              </a:spcAft>
            </a:pPr>
            <a:r>
              <a:rPr lang="en-US" altLang="en-US" sz="1400" dirty="0" smtClean="0">
                <a:latin typeface="Times New Roman" panose="02020603050405020304" pitchFamily="18" charset="0"/>
                <a:cs typeface="Times New Roman" panose="02020603050405020304" pitchFamily="18" charset="0"/>
              </a:rPr>
              <a:t>Appendix:</a:t>
            </a:r>
          </a:p>
          <a:p>
            <a:r>
              <a:rPr lang="en-IN" sz="1200" dirty="0">
                <a:latin typeface="Times New Roman" panose="02020603050405020304" pitchFamily="18" charset="0"/>
                <a:cs typeface="Times New Roman" panose="02020603050405020304" pitchFamily="18" charset="0"/>
              </a:rPr>
              <a:t>The appendix contains additional supporting information related to the project:</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Sample Screens: </a:t>
            </a:r>
          </a:p>
          <a:p>
            <a:pPr lvl="1"/>
            <a:r>
              <a:rPr lang="en-IN" sz="1200" dirty="0">
                <a:latin typeface="Times New Roman" panose="02020603050405020304" pitchFamily="18" charset="0"/>
                <a:cs typeface="Times New Roman" panose="02020603050405020304" pitchFamily="18" charset="0"/>
              </a:rPr>
              <a:t>Login Page </a:t>
            </a:r>
          </a:p>
          <a:p>
            <a:pPr lvl="1"/>
            <a:r>
              <a:rPr lang="en-IN" sz="1200" dirty="0">
                <a:latin typeface="Times New Roman" panose="02020603050405020304" pitchFamily="18" charset="0"/>
                <a:cs typeface="Times New Roman" panose="02020603050405020304" pitchFamily="18" charset="0"/>
              </a:rPr>
              <a:t>Registration Page </a:t>
            </a:r>
          </a:p>
          <a:p>
            <a:pPr lvl="1"/>
            <a:r>
              <a:rPr lang="en-IN" sz="1200" dirty="0">
                <a:latin typeface="Times New Roman" panose="02020603050405020304" pitchFamily="18" charset="0"/>
                <a:cs typeface="Times New Roman" panose="02020603050405020304" pitchFamily="18" charset="0"/>
              </a:rPr>
              <a:t>Quiz Interface </a:t>
            </a:r>
          </a:p>
          <a:p>
            <a:pPr lvl="1"/>
            <a:r>
              <a:rPr lang="en-IN" sz="1200" dirty="0">
                <a:latin typeface="Times New Roman" panose="02020603050405020304" pitchFamily="18" charset="0"/>
                <a:cs typeface="Times New Roman" panose="02020603050405020304" pitchFamily="18" charset="0"/>
              </a:rPr>
              <a:t>Result Page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Sample Code Snippets: </a:t>
            </a:r>
          </a:p>
          <a:p>
            <a:pPr lvl="1"/>
            <a:r>
              <a:rPr lang="en-IN" sz="1200" dirty="0">
                <a:latin typeface="Times New Roman" panose="02020603050405020304" pitchFamily="18" charset="0"/>
                <a:cs typeface="Times New Roman" panose="02020603050405020304" pitchFamily="18" charset="0"/>
              </a:rPr>
              <a:t>User Login &amp; Authentication Code </a:t>
            </a:r>
          </a:p>
          <a:p>
            <a:pPr lvl="1"/>
            <a:r>
              <a:rPr lang="en-IN" sz="1200" dirty="0">
                <a:latin typeface="Times New Roman" panose="02020603050405020304" pitchFamily="18" charset="0"/>
                <a:cs typeface="Times New Roman" panose="02020603050405020304" pitchFamily="18" charset="0"/>
              </a:rPr>
              <a:t>Database Connection Code </a:t>
            </a:r>
          </a:p>
          <a:p>
            <a:pPr lvl="1"/>
            <a:r>
              <a:rPr lang="en-IN" sz="1200" dirty="0">
                <a:latin typeface="Times New Roman" panose="02020603050405020304" pitchFamily="18" charset="0"/>
                <a:cs typeface="Times New Roman" panose="02020603050405020304" pitchFamily="18" charset="0"/>
              </a:rPr>
              <a:t>Quiz Evaluation Logic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Database Schema: </a:t>
            </a:r>
          </a:p>
          <a:p>
            <a:pPr lvl="1"/>
            <a:r>
              <a:rPr lang="en-IN" sz="1200" dirty="0">
                <a:latin typeface="Times New Roman" panose="02020603050405020304" pitchFamily="18" charset="0"/>
                <a:cs typeface="Times New Roman" panose="02020603050405020304" pitchFamily="18" charset="0"/>
              </a:rPr>
              <a:t>Table structures for Users, Questions, Quiz, and Results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Test Cases: </a:t>
            </a:r>
          </a:p>
          <a:p>
            <a:pPr lvl="1"/>
            <a:r>
              <a:rPr lang="en-IN" sz="1200" dirty="0">
                <a:latin typeface="Times New Roman" panose="02020603050405020304" pitchFamily="18" charset="0"/>
                <a:cs typeface="Times New Roman" panose="02020603050405020304" pitchFamily="18" charset="0"/>
              </a:rPr>
              <a:t>Input and expected output for different scenarios </a:t>
            </a: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User Manual: </a:t>
            </a:r>
          </a:p>
          <a:p>
            <a:pPr lvl="1"/>
            <a:r>
              <a:rPr lang="en-IN" sz="1200" dirty="0">
                <a:latin typeface="Times New Roman" panose="02020603050405020304" pitchFamily="18" charset="0"/>
                <a:cs typeface="Times New Roman" panose="02020603050405020304" pitchFamily="18" charset="0"/>
              </a:rPr>
              <a:t>Steps to use the application (Register → Login → Attempt Quiz → View Result)</a:t>
            </a:r>
          </a:p>
          <a:p>
            <a:pPr lvl="0" algn="l" rtl="0" eaLnBrk="0" fontAlgn="base" hangingPunct="0">
              <a:spcBef>
                <a:spcPct val="0"/>
              </a:spcBef>
              <a:spcAft>
                <a:spcPct val="0"/>
              </a:spcAft>
            </a:pPr>
            <a:endParaRPr lang="en-US" altLang="en-US"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77288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61003" y="2690317"/>
            <a:ext cx="4269740" cy="2710815"/>
          </a:xfrm>
          <a:prstGeom prst="rect">
            <a:avLst/>
          </a:prstGeom>
        </p:spPr>
        <p:txBody>
          <a:bodyPr vert="horz" wrap="square" lIns="0" tIns="9525" rIns="0" bIns="0" rtlCol="0">
            <a:spAutoFit/>
          </a:bodyPr>
          <a:lstStyle/>
          <a:p>
            <a:pPr marL="859790" marR="5080" indent="-847725">
              <a:lnSpc>
                <a:spcPct val="100200"/>
              </a:lnSpc>
              <a:spcBef>
                <a:spcPts val="75"/>
              </a:spcBef>
            </a:pPr>
            <a:r>
              <a:rPr sz="8800" spc="-290" dirty="0">
                <a:solidFill>
                  <a:srgbClr val="1E4E79"/>
                </a:solidFill>
                <a:latin typeface="Verdana"/>
                <a:cs typeface="Verdana"/>
              </a:rPr>
              <a:t>THANK </a:t>
            </a:r>
            <a:r>
              <a:rPr sz="8800" spc="-380" dirty="0">
                <a:solidFill>
                  <a:srgbClr val="1E4E79"/>
                </a:solidFill>
                <a:latin typeface="Verdana"/>
                <a:cs typeface="Verdana"/>
              </a:rPr>
              <a:t>YOU</a:t>
            </a:r>
            <a:endParaRPr sz="8800">
              <a:latin typeface="Verdana"/>
              <a:cs typeface="Verdan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2918</TotalTime>
  <Words>3096</Words>
  <Application>Microsoft Office PowerPoint</Application>
  <PresentationFormat>Widescreen</PresentationFormat>
  <Paragraphs>252</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MT</vt:lpstr>
      <vt:lpstr>Calibri</vt:lpstr>
      <vt:lpstr>Times New Roman</vt:lpstr>
      <vt:lpstr>Verdana</vt:lpstr>
      <vt:lpstr>Office Theme</vt:lpstr>
      <vt:lpstr>Final Project Review-2</vt:lpstr>
      <vt:lpstr>Outline</vt:lpstr>
      <vt:lpstr>Abstract:</vt:lpstr>
      <vt:lpstr>CHAPTER 1: INTRODUCTION</vt:lpstr>
      <vt:lpstr>Problem Statement:</vt:lpstr>
      <vt:lpstr>PowerPoint Presentation</vt:lpstr>
      <vt:lpstr>Scope of Project:</vt:lpstr>
      <vt:lpstr>CHAPTER 2: SYSTEM OVERVIEW</vt:lpstr>
      <vt:lpstr>Main Agenda (core idea):</vt:lpstr>
      <vt:lpstr>System Architecture: The Online Quiz Application follows a three-tier architecture, which separates the system into different layers for better performance, scalability, and maintenance. 1. Presentation Layer (Frontend) This is the user interface of the application where users and admins interact with the system. It is developed using technologies like HTML, CSS, and JavaScript. Users can register, log in, attempt quizzes, and view results through this layer. 2. Application Layer (Backend) This layer handles the core logic of the system. It processes user requests, validates inputs, manages quiz flow, and calculates results. Backend technologies like Python / Java / Node.js can be used to implement this layer. 3. Data Layer (Database) This layer stores all the data required for the system, such as user details, quiz questions, answers, and results. Databases like MySQL / MongoDB are used to manage and retrieve data efficiently.</vt:lpstr>
      <vt:lpstr>PowerPoint Presentation</vt:lpstr>
      <vt:lpstr>CHAPTER 3: TECHNOLOGIES USED</vt:lpstr>
      <vt:lpstr>PowerPoint Presentation</vt:lpstr>
      <vt:lpstr>CHAPTER 4: DATABASE DESIGN</vt:lpstr>
      <vt:lpstr>Tables In Database:</vt:lpstr>
      <vt:lpstr>PowerPoint Presentation</vt:lpstr>
      <vt:lpstr>PowerPoint Presentation</vt:lpstr>
      <vt:lpstr>Data Flow:</vt:lpstr>
      <vt:lpstr>CHAPTER 5: SYSTEM MODULES</vt:lpstr>
      <vt:lpstr>CHAPTER 6: IMPLEMENTATION</vt:lpstr>
      <vt:lpstr>User Interaction Based Learning</vt:lpstr>
      <vt:lpstr>CHAPTER 7: OUTPUT SCREENS</vt:lpstr>
      <vt:lpstr>Quiz Screen:</vt:lpstr>
      <vt:lpstr>Result Screen</vt:lpstr>
      <vt:lpstr>CHAPTER 8: ADVANTAGES &amp; LIMITATIONS</vt:lpstr>
      <vt:lpstr>Limitations </vt:lpstr>
      <vt:lpstr>CHAPTER 9: FUTURE ENHANCEMENTS</vt:lpstr>
      <vt:lpstr>CHAPTER 10: CONCLUSION</vt:lpstr>
      <vt:lpstr>References &amp; Appendix</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Review-2</dc:title>
  <dc:creator>Always Cherry</dc:creator>
  <cp:lastModifiedBy>PAVAN</cp:lastModifiedBy>
  <cp:revision>29</cp:revision>
  <dcterms:created xsi:type="dcterms:W3CDTF">2026-03-02T08:43:08Z</dcterms:created>
  <dcterms:modified xsi:type="dcterms:W3CDTF">2026-04-05T17:03:57Z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Microsoft® PowerPoint® 2021</vt:lpwstr>
  </property>
  <property fmtid="{D5CDD505-2E9C-101B-9397-08002B2CF9AE}" pid="4" name="LastSaved">
    <vt:filetime>2026-03-02T00:00:00Z</vt:filetime>
  </property>
  <property fmtid="{D5CDD505-2E9C-101B-9397-08002B2CF9AE}" pid="5" name="Producer">
    <vt:lpwstr>Microsoft® PowerPoint® 2021</vt:lpwstr>
  </property>
</Properties>
</file>